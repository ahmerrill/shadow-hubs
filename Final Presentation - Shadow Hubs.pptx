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HK Grotesk Semi-Bold" charset="1" panose="00000700000000000000"/>
      <p:regular r:id="rId22"/>
    </p:embeddedFont>
    <p:embeddedFont>
      <p:font typeface="HK Grotesk" charset="1" panose="00000500000000000000"/>
      <p:regular r:id="rId23"/>
    </p:embeddedFont>
    <p:embeddedFont>
      <p:font typeface="Noto Serif Display ExtraCondensed Light" charset="1" panose="02020406080505020204"/>
      <p:regular r:id="rId24"/>
    </p:embeddedFont>
    <p:embeddedFont>
      <p:font typeface="HK Grotesk Light" charset="1" panose="00000400000000000000"/>
      <p:regular r:id="rId25"/>
    </p:embeddedFont>
    <p:embeddedFont>
      <p:font typeface="HK Grotesk Bold" charset="1" panose="00000800000000000000"/>
      <p:regular r:id="rId26"/>
    </p:embeddedFont>
    <p:embeddedFont>
      <p:font typeface="HK Grotesk Italic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Schema Design — We modeled countries, years, trade flows, and shadow hub scores as a connected graph in Neo4j AuraDB. Each Country node links to Year nodes through SHADOW_HUB relationships carrying betweenness, clustering coefficients, residual, and ranking properties.</a:t>
            </a:r>
          </a:p>
          <a:p>
            <a:r>
              <a:rPr lang="en-US"/>
              <a:t/>
            </a:r>
          </a:p>
          <a:p>
            <a:r>
              <a:rPr lang="en-US"/>
              <a:t>Cypher-Powered Queries — Neo4j's query language lets us ask structural questions natively: find top shadow hubs across all years, track how a country's rank shifted post-2022, or surface sanctioned-country trade trends.</a:t>
            </a:r>
          </a:p>
          <a:p>
            <a:r>
              <a:rPr lang="en-US"/>
              <a:t/>
            </a:r>
          </a:p>
          <a:p>
            <a:r>
              <a:rPr lang="en-US"/>
              <a:t>Live Cloud Access — The graph runs on AuraDB, giving our API and AI pipeline direct read access to the full trade network without managing infrastructure.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Schema Design — We modeled countries, years, trade flows, and shadow hub scores as a connected graph in Neo4j AuraDB. Each Country node links to Year nodes through SHADOW_HUB relationships carrying betweenness, clustering coefficients, residual, and ranking properties.</a:t>
            </a:r>
          </a:p>
          <a:p>
            <a:r>
              <a:rPr lang="en-US"/>
              <a:t/>
            </a:r>
          </a:p>
          <a:p>
            <a:r>
              <a:rPr lang="en-US"/>
              <a:t>Cypher-Powered Queries — Neo4j's query language lets us ask structural questions natively: find top shadow hubs across all years, track how a country's rank shifted post-2022, or surface sanctioned-country trade trends.</a:t>
            </a:r>
          </a:p>
          <a:p>
            <a:r>
              <a:rPr lang="en-US"/>
              <a:t/>
            </a:r>
          </a:p>
          <a:p>
            <a:r>
              <a:rPr lang="en-US"/>
              <a:t>Live Cloud Access — The graph runs on AuraDB, giving our API and AI pipeline direct read access to the full trade network without managing infrastructure.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Plan:</a:t>
            </a:r>
          </a:p>
          <a:p>
            <a:r>
              <a:rPr lang="en-US"/>
              <a:t/>
            </a:r>
          </a:p>
          <a:p>
            <a:r>
              <a:rPr lang="en-US"/>
              <a:t>Classifies each question into 1 of 7 intent types (hub_partners, top_shadow_hubs, sanctioned_shadow_trend, general, etc.)</a:t>
            </a:r>
          </a:p>
          <a:p>
            <a:r>
              <a:rPr lang="en-US"/>
              <a:t>Extracts country ISO codes, year filters, and top-N parameters; resolves ambiguous country names</a:t>
            </a:r>
          </a:p>
          <a:p>
            <a:r>
              <a:rPr lang="en-US"/>
              <a:t>Routes meta/general questions to an embedded project reference covering methodology, tech stack, and data sources</a:t>
            </a:r>
          </a:p>
          <a:p>
            <a:r>
              <a:rPr lang="en-US"/>
              <a:t/>
            </a:r>
          </a:p>
          <a:p>
            <a:r>
              <a:rPr lang="en-US"/>
              <a:t>Retrieve &amp; Draft:</a:t>
            </a:r>
          </a:p>
          <a:p>
            <a:r>
              <a:rPr lang="en-US"/>
              <a:t/>
            </a:r>
          </a:p>
          <a:p>
            <a:r>
              <a:rPr lang="en-US"/>
              <a:t>Runs intent-specific Cypher queries against Neo4j + vector similarity search over embedded concept definitions</a:t>
            </a:r>
          </a:p>
          <a:p>
            <a:r>
              <a:rPr lang="en-US"/>
              <a:t>OpenAI GPT-4o drafts a cited answer with inline [C#] and [V#] citations referencing graph and vector evidence</a:t>
            </a:r>
          </a:p>
          <a:p>
            <a:r>
              <a:rPr lang="en-US"/>
              <a:t>General questions draw on the embedded project reference instead of requiring graph evidence</a:t>
            </a:r>
          </a:p>
          <a:p>
            <a:r>
              <a:rPr lang="en-US"/>
              <a:t/>
            </a:r>
          </a:p>
          <a:p>
            <a:r>
              <a:rPr lang="en-US"/>
              <a:t>Evaluate &amp; Refine:</a:t>
            </a:r>
          </a:p>
          <a:p>
            <a:r>
              <a:rPr lang="en-US"/>
              <a:t/>
            </a:r>
          </a:p>
          <a:p>
            <a:r>
              <a:rPr lang="en-US"/>
              <a:t>Rule-based checks (citations present? country mentioned? evidence empty?) plus LLM evaluation score the draft</a:t>
            </a:r>
          </a:p>
          <a:p>
            <a:r>
              <a:rPr lang="en-US"/>
              <a:t>Three exit paths: finalize if quality passes, rewrite query and loop back to Plan (up to 2 retries), or ask user for clarification</a:t>
            </a:r>
          </a:p>
          <a:p>
            <a:r>
              <a:rPr lang="en-US"/>
              <a:t>General/meta questions bypass strict citation checks since they don't need graph evidence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Globe.gl + WebGL — A 3D rendered globe where every country is a clickable point, sized by shadow hub score and colored by clustering pattern: Exclusive Brokers, Mixed, or Laundering Syndicates.</a:t>
            </a:r>
          </a:p>
          <a:p>
            <a:r>
              <a:rPr lang="en-US"/>
              <a:t/>
            </a:r>
          </a:p>
          <a:p>
            <a:r>
              <a:rPr lang="en-US"/>
              <a:t>Year Dropdown + Leaderboard — Select any year from 2019–2024 to watch trade arcs and rankings restructure in real time. The leaderboard toggles between clustered and raw views of the top shadow hubs.</a:t>
            </a:r>
          </a:p>
          <a:p>
            <a:r>
              <a:rPr lang="en-US"/>
              <a:t/>
            </a:r>
          </a:p>
          <a:p>
            <a:r>
              <a:rPr lang="en-US"/>
              <a:t>AI Chat Built In — The GraphRAG pipeline is embedded directly in the tool. Click a country, then ask follow-up questions in natural language without leaving the page.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youtu.be/CwIZ8aACRSo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github.com/AHMerrill/shadow-hubs" TargetMode="External" Type="http://schemas.openxmlformats.org/officeDocument/2006/relationships/hyperlink"/><Relationship Id="rId3" Target="https://shadow-hubs.onrender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0" y="0"/>
            <a:ext cx="5715000" cy="10287000"/>
            <a:chOff x="0" y="0"/>
            <a:chExt cx="8854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54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85403">
                  <a:moveTo>
                    <a:pt x="0" y="0"/>
                  </a:moveTo>
                  <a:lnTo>
                    <a:pt x="885403" y="0"/>
                  </a:lnTo>
                  <a:lnTo>
                    <a:pt x="8854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8075" t="0" r="-2807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Global Oil Trade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2964406"/>
            <a:ext cx="10158771" cy="4351020"/>
            <a:chOff x="0" y="0"/>
            <a:chExt cx="13545028" cy="58013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353560"/>
              <a:ext cx="13545028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Keerti Rawat · Muskan Khepar · Nikhil Kumar · Stiles Clements · Zan Merrill</a:t>
              </a:r>
            </a:p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Social Media &amp; Network Analytics - Spring 2026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6700"/>
              <a:ext cx="11705071" cy="26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Shadow Hubs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15345"/>
            <a:ext cx="544830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5"/>
              </a:lnSpc>
            </a:pPr>
            <a:r>
              <a:rPr lang="en-US" sz="8325" spc="-166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The Question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60570" y="3139400"/>
            <a:ext cx="1004279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Billions of dollars in sanctioned oil still moves around the world every year. It doesn't vanish, it reroutes through intermediary countries that act as hidden middlemen in the trade network.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58913" y="5859120"/>
            <a:ext cx="10444427" cy="3210236"/>
            <a:chOff x="0" y="0"/>
            <a:chExt cx="2750796" cy="845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50796" cy="845494"/>
            </a:xfrm>
            <a:custGeom>
              <a:avLst/>
              <a:gdLst/>
              <a:ahLst/>
              <a:cxnLst/>
              <a:rect r="r" b="b" t="t" l="l"/>
              <a:pathLst>
                <a:path h="845494" w="2750796">
                  <a:moveTo>
                    <a:pt x="37804" y="0"/>
                  </a:moveTo>
                  <a:lnTo>
                    <a:pt x="2712992" y="0"/>
                  </a:lnTo>
                  <a:cubicBezTo>
                    <a:pt x="2723018" y="0"/>
                    <a:pt x="2732634" y="3983"/>
                    <a:pt x="2739723" y="11072"/>
                  </a:cubicBezTo>
                  <a:cubicBezTo>
                    <a:pt x="2746813" y="18162"/>
                    <a:pt x="2750796" y="27778"/>
                    <a:pt x="2750796" y="37804"/>
                  </a:cubicBezTo>
                  <a:lnTo>
                    <a:pt x="2750796" y="807691"/>
                  </a:lnTo>
                  <a:cubicBezTo>
                    <a:pt x="2750796" y="828569"/>
                    <a:pt x="2733870" y="845494"/>
                    <a:pt x="2712992" y="845494"/>
                  </a:cubicBezTo>
                  <a:lnTo>
                    <a:pt x="37804" y="845494"/>
                  </a:lnTo>
                  <a:cubicBezTo>
                    <a:pt x="16925" y="845494"/>
                    <a:pt x="0" y="828569"/>
                    <a:pt x="0" y="807691"/>
                  </a:cubicBezTo>
                  <a:lnTo>
                    <a:pt x="0" y="37804"/>
                  </a:lnTo>
                  <a:cubicBezTo>
                    <a:pt x="0" y="16925"/>
                    <a:pt x="16925" y="0"/>
                    <a:pt x="3780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750796" cy="816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040776" y="6289496"/>
            <a:ext cx="10388311" cy="276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1) Which countries are “</a:t>
            </a: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shadow hub</a:t>
            </a: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” (have more network centrality than their trade volume alone would predict)?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2) Which countries are the </a:t>
            </a: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biggest “emergent” shadow hub</a:t>
            </a: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over time?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3) How does </a:t>
            </a: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sanctions exposure</a:t>
            </a: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(high OFAC footprint) relate to shadow hubs?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4) For any shadow hub, who are it’s </a:t>
            </a: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top trade partners</a:t>
            </a:r>
            <a:r>
              <a:rPr lang="en-US" sz="2400" spc="-48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in a given year?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8981965" y="4463248"/>
            <a:ext cx="0" cy="1254817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9234932" y="4860677"/>
            <a:ext cx="3599581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-4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 Network Analytics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134597" y="3391301"/>
            <a:ext cx="11935489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OFAC sanctions target entities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(firms, vessels,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individuals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)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not entire countries.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Oil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doesn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’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ear,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it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reroutes.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Rerout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tes through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small set of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intermediary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cou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(“s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hadow hubs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”).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ing t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ese 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ubs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gives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inv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gators a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zed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sh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rtl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 for deeper 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OSINT / compl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ce re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</a:t>
            </a: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57945" y="6696476"/>
            <a:ext cx="12572110" cy="519494"/>
            <a:chOff x="0" y="0"/>
            <a:chExt cx="812800" cy="33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3586"/>
            </a:xfrm>
            <a:custGeom>
              <a:avLst/>
              <a:gdLst/>
              <a:ahLst/>
              <a:cxnLst/>
              <a:rect r="r" b="b" t="t" l="l"/>
              <a:pathLst>
                <a:path h="33586" w="812800">
                  <a:moveTo>
                    <a:pt x="12316" y="0"/>
                  </a:moveTo>
                  <a:lnTo>
                    <a:pt x="800484" y="0"/>
                  </a:lnTo>
                  <a:cubicBezTo>
                    <a:pt x="807286" y="0"/>
                    <a:pt x="812800" y="5514"/>
                    <a:pt x="812800" y="12316"/>
                  </a:cubicBezTo>
                  <a:lnTo>
                    <a:pt x="812800" y="21270"/>
                  </a:lnTo>
                  <a:cubicBezTo>
                    <a:pt x="812800" y="28072"/>
                    <a:pt x="807286" y="33586"/>
                    <a:pt x="800484" y="33586"/>
                  </a:cubicBezTo>
                  <a:lnTo>
                    <a:pt x="12316" y="33586"/>
                  </a:lnTo>
                  <a:cubicBezTo>
                    <a:pt x="5514" y="33586"/>
                    <a:pt x="0" y="28072"/>
                    <a:pt x="0" y="21270"/>
                  </a:cubicBezTo>
                  <a:lnTo>
                    <a:pt x="0" y="12316"/>
                  </a:lnTo>
                  <a:cubicBezTo>
                    <a:pt x="0" y="5514"/>
                    <a:pt x="5514" y="0"/>
                    <a:pt x="123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5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We use network structure to detect where sanctioned trade is most likely being intermediated.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75435" y="7844129"/>
            <a:ext cx="3086100" cy="1236745"/>
            <a:chOff x="0" y="0"/>
            <a:chExt cx="812800" cy="3257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25727"/>
            </a:xfrm>
            <a:custGeom>
              <a:avLst/>
              <a:gdLst/>
              <a:ahLst/>
              <a:cxnLst/>
              <a:rect r="r" b="b" t="t" l="l"/>
              <a:pathLst>
                <a:path h="32572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97786"/>
                  </a:lnTo>
                  <a:cubicBezTo>
                    <a:pt x="812800" y="268446"/>
                    <a:pt x="755519" y="325727"/>
                    <a:pt x="684859" y="325727"/>
                  </a:cubicBezTo>
                  <a:lnTo>
                    <a:pt x="127941" y="325727"/>
                  </a:lnTo>
                  <a:cubicBezTo>
                    <a:pt x="94009" y="325727"/>
                    <a:pt x="61467" y="312248"/>
                    <a:pt x="37473" y="288254"/>
                  </a:cubicBezTo>
                  <a:cubicBezTo>
                    <a:pt x="13479" y="264261"/>
                    <a:pt x="0" y="231718"/>
                    <a:pt x="0" y="19778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812800" cy="29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Sanctioned Source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0931" y="7844129"/>
            <a:ext cx="3086100" cy="1236745"/>
            <a:chOff x="0" y="0"/>
            <a:chExt cx="812800" cy="325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25727"/>
            </a:xfrm>
            <a:custGeom>
              <a:avLst/>
              <a:gdLst/>
              <a:ahLst/>
              <a:cxnLst/>
              <a:rect r="r" b="b" t="t" l="l"/>
              <a:pathLst>
                <a:path h="32572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97786"/>
                  </a:lnTo>
                  <a:cubicBezTo>
                    <a:pt x="812800" y="268446"/>
                    <a:pt x="755519" y="325727"/>
                    <a:pt x="684859" y="325727"/>
                  </a:cubicBezTo>
                  <a:lnTo>
                    <a:pt x="127941" y="325727"/>
                  </a:lnTo>
                  <a:cubicBezTo>
                    <a:pt x="94009" y="325727"/>
                    <a:pt x="61467" y="312248"/>
                    <a:pt x="37473" y="288254"/>
                  </a:cubicBezTo>
                  <a:cubicBezTo>
                    <a:pt x="13479" y="264261"/>
                    <a:pt x="0" y="231718"/>
                    <a:pt x="0" y="19778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812800" cy="29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Shadow Hub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26427" y="7844129"/>
            <a:ext cx="3086100" cy="1236745"/>
            <a:chOff x="0" y="0"/>
            <a:chExt cx="812800" cy="3257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25727"/>
            </a:xfrm>
            <a:custGeom>
              <a:avLst/>
              <a:gdLst/>
              <a:ahLst/>
              <a:cxnLst/>
              <a:rect r="r" b="b" t="t" l="l"/>
              <a:pathLst>
                <a:path h="32572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97786"/>
                  </a:lnTo>
                  <a:cubicBezTo>
                    <a:pt x="812800" y="268446"/>
                    <a:pt x="755519" y="325727"/>
                    <a:pt x="684859" y="325727"/>
                  </a:cubicBezTo>
                  <a:lnTo>
                    <a:pt x="127941" y="325727"/>
                  </a:lnTo>
                  <a:cubicBezTo>
                    <a:pt x="94009" y="325727"/>
                    <a:pt x="61467" y="312248"/>
                    <a:pt x="37473" y="288254"/>
                  </a:cubicBezTo>
                  <a:cubicBezTo>
                    <a:pt x="13479" y="264261"/>
                    <a:pt x="0" y="231718"/>
                    <a:pt x="0" y="19778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812800" cy="29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Destination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6498572" y="8454194"/>
            <a:ext cx="809093" cy="16614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V="true">
            <a:off x="10677183" y="8445887"/>
            <a:ext cx="809093" cy="16614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9" id="19"/>
          <p:cNvSpPr txBox="true"/>
          <p:nvPr/>
        </p:nvSpPr>
        <p:spPr>
          <a:xfrm rot="0">
            <a:off x="666750" y="1743920"/>
            <a:ext cx="68865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Why It Matters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409973" y="3485522"/>
            <a:ext cx="5515374" cy="5468356"/>
            <a:chOff x="0" y="0"/>
            <a:chExt cx="1452609" cy="1440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62653" y="3485522"/>
            <a:ext cx="5515374" cy="5468356"/>
            <a:chOff x="0" y="0"/>
            <a:chExt cx="1452609" cy="1440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09973" y="3485522"/>
            <a:ext cx="5515374" cy="1173252"/>
            <a:chOff x="0" y="0"/>
            <a:chExt cx="1452609" cy="309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 Comtrade </a:t>
              </a:r>
            </a:p>
            <a:p>
              <a:pPr algn="ctr">
                <a:lnSpc>
                  <a:spcPts val="2300"/>
                </a:lnSpc>
              </a:pPr>
              <a:r>
                <a:rPr lang="en-US" sz="2300" i="true" spc="-46">
                  <a:solidFill>
                    <a:srgbClr val="FFFFFF"/>
                  </a:solidFill>
                  <a:latin typeface="HK Grotesk Italics"/>
                  <a:ea typeface="HK Grotesk Italics"/>
                  <a:cs typeface="HK Grotesk Italics"/>
                  <a:sym typeface="HK Grotesk Italics"/>
                </a:rPr>
                <a:t>(Country level Trade)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1743920"/>
            <a:ext cx="68865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 Sources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62653" y="3485522"/>
            <a:ext cx="5515374" cy="1173252"/>
            <a:chOff x="0" y="0"/>
            <a:chExt cx="1452609" cy="309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OFAC SDN</a:t>
              </a:r>
            </a:p>
            <a:p>
              <a:pPr algn="ctr">
                <a:lnSpc>
                  <a:spcPts val="2300"/>
                </a:lnSpc>
              </a:pPr>
              <a:r>
                <a:rPr lang="en-US" sz="2300" i="true" spc="-46">
                  <a:solidFill>
                    <a:srgbClr val="FFFFFF"/>
                  </a:solidFill>
                  <a:latin typeface="HK Grotesk Italics"/>
                  <a:ea typeface="HK Grotesk Italics"/>
                  <a:cs typeface="HK Grotesk Italics"/>
                  <a:sym typeface="HK Grotesk Italics"/>
                </a:rPr>
                <a:t>(Sanctioned Entities)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612628" y="5144549"/>
            <a:ext cx="5110063" cy="299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Bilateral Trade Tables for </a:t>
            </a:r>
          </a:p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sz="2100" spc="-4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HS 2709 (Crude oil) </a:t>
            </a:r>
          </a:p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sz="2100" spc="-4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HS 2710 (Non-Crude Oil)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Yearly data from 2019-2024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232 Countries with 45,513 directed trade edges 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Trade Values in USD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5308" y="5144549"/>
            <a:ext cx="5188427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9,000+ Sanctioned Entities data</a:t>
            </a:r>
          </a:p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sz="2100" spc="-4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Individuals</a:t>
            </a:r>
          </a:p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sz="2100" spc="-4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Companies</a:t>
            </a:r>
          </a:p>
          <a:p>
            <a:pPr algn="l" marL="453395" indent="-226697" lvl="1">
              <a:lnSpc>
                <a:spcPts val="2100"/>
              </a:lnSpc>
              <a:buFont typeface="Arial"/>
              <a:buChar char="•"/>
            </a:pPr>
            <a:r>
              <a:rPr lang="en-US" sz="2100" spc="-4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Vessels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Latest Snapshot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177 Countries signal from addresses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→ Aggregated counts by ISO3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26210" y="3803168"/>
            <a:ext cx="19050" cy="5642507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5" id="5"/>
          <p:cNvGrpSpPr/>
          <p:nvPr/>
        </p:nvGrpSpPr>
        <p:grpSpPr>
          <a:xfrm rot="0">
            <a:off x="666750" y="3294432"/>
            <a:ext cx="11259364" cy="859726"/>
            <a:chOff x="0" y="0"/>
            <a:chExt cx="937875" cy="716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7876" cy="71613"/>
            </a:xfrm>
            <a:custGeom>
              <a:avLst/>
              <a:gdLst/>
              <a:ahLst/>
              <a:cxnLst/>
              <a:rect r="r" b="b" t="t" l="l"/>
              <a:pathLst>
                <a:path h="71613" w="937876">
                  <a:moveTo>
                    <a:pt x="13430" y="0"/>
                  </a:moveTo>
                  <a:lnTo>
                    <a:pt x="924446" y="0"/>
                  </a:lnTo>
                  <a:cubicBezTo>
                    <a:pt x="928008" y="0"/>
                    <a:pt x="931423" y="1415"/>
                    <a:pt x="933942" y="3933"/>
                  </a:cubicBezTo>
                  <a:cubicBezTo>
                    <a:pt x="936461" y="6452"/>
                    <a:pt x="937876" y="9868"/>
                    <a:pt x="937876" y="13430"/>
                  </a:cubicBezTo>
                  <a:lnTo>
                    <a:pt x="937876" y="58183"/>
                  </a:lnTo>
                  <a:cubicBezTo>
                    <a:pt x="937876" y="61745"/>
                    <a:pt x="936461" y="65161"/>
                    <a:pt x="933942" y="67679"/>
                  </a:cubicBezTo>
                  <a:cubicBezTo>
                    <a:pt x="931423" y="70198"/>
                    <a:pt x="928008" y="71613"/>
                    <a:pt x="924446" y="71613"/>
                  </a:cubicBezTo>
                  <a:lnTo>
                    <a:pt x="13430" y="71613"/>
                  </a:lnTo>
                  <a:cubicBezTo>
                    <a:pt x="9868" y="71613"/>
                    <a:pt x="6452" y="70198"/>
                    <a:pt x="3933" y="67679"/>
                  </a:cubicBezTo>
                  <a:cubicBezTo>
                    <a:pt x="1415" y="65161"/>
                    <a:pt x="0" y="61745"/>
                    <a:pt x="0" y="58183"/>
                  </a:cubicBezTo>
                  <a:lnTo>
                    <a:pt x="0" y="13430"/>
                  </a:lnTo>
                  <a:cubicBezTo>
                    <a:pt x="0" y="9868"/>
                    <a:pt x="1415" y="6452"/>
                    <a:pt x="3933" y="3933"/>
                  </a:cubicBezTo>
                  <a:cubicBezTo>
                    <a:pt x="6452" y="1415"/>
                    <a:pt x="9868" y="0"/>
                    <a:pt x="1343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37875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Filter and Standardize Comtrade data</a:t>
              </a:r>
              <a:r>
                <a:rPr lang="en-US" sz="22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by keeping only country-to-country flows with trade value and normalizing identifiers to ISO3 and cleaning unknowns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545148"/>
            <a:ext cx="11259364" cy="859726"/>
            <a:chOff x="0" y="0"/>
            <a:chExt cx="937875" cy="716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7876" cy="71613"/>
            </a:xfrm>
            <a:custGeom>
              <a:avLst/>
              <a:gdLst/>
              <a:ahLst/>
              <a:cxnLst/>
              <a:rect r="r" b="b" t="t" l="l"/>
              <a:pathLst>
                <a:path h="71613" w="937876">
                  <a:moveTo>
                    <a:pt x="13430" y="0"/>
                  </a:moveTo>
                  <a:lnTo>
                    <a:pt x="924446" y="0"/>
                  </a:lnTo>
                  <a:cubicBezTo>
                    <a:pt x="928008" y="0"/>
                    <a:pt x="931423" y="1415"/>
                    <a:pt x="933942" y="3933"/>
                  </a:cubicBezTo>
                  <a:cubicBezTo>
                    <a:pt x="936461" y="6452"/>
                    <a:pt x="937876" y="9868"/>
                    <a:pt x="937876" y="13430"/>
                  </a:cubicBezTo>
                  <a:lnTo>
                    <a:pt x="937876" y="58183"/>
                  </a:lnTo>
                  <a:cubicBezTo>
                    <a:pt x="937876" y="61745"/>
                    <a:pt x="936461" y="65161"/>
                    <a:pt x="933942" y="67679"/>
                  </a:cubicBezTo>
                  <a:cubicBezTo>
                    <a:pt x="931423" y="70198"/>
                    <a:pt x="928008" y="71613"/>
                    <a:pt x="924446" y="71613"/>
                  </a:cubicBezTo>
                  <a:lnTo>
                    <a:pt x="13430" y="71613"/>
                  </a:lnTo>
                  <a:cubicBezTo>
                    <a:pt x="9868" y="71613"/>
                    <a:pt x="6452" y="70198"/>
                    <a:pt x="3933" y="67679"/>
                  </a:cubicBezTo>
                  <a:cubicBezTo>
                    <a:pt x="1415" y="65161"/>
                    <a:pt x="0" y="61745"/>
                    <a:pt x="0" y="58183"/>
                  </a:cubicBezTo>
                  <a:lnTo>
                    <a:pt x="0" y="13430"/>
                  </a:lnTo>
                  <a:cubicBezTo>
                    <a:pt x="0" y="9868"/>
                    <a:pt x="1415" y="6452"/>
                    <a:pt x="3933" y="3933"/>
                  </a:cubicBezTo>
                  <a:cubicBezTo>
                    <a:pt x="6452" y="1415"/>
                    <a:pt x="9868" y="0"/>
                    <a:pt x="1343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37875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Construct network tables</a:t>
              </a:r>
              <a:r>
                <a:rPr lang="en-US" sz="22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as an edges table (exporter_iso3 → importer_iso3, year, trade_value_usd) and a nodes table (unique country_iso3 + metadata)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5795865"/>
            <a:ext cx="11259364" cy="859726"/>
            <a:chOff x="0" y="0"/>
            <a:chExt cx="937875" cy="716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7876" cy="71613"/>
            </a:xfrm>
            <a:custGeom>
              <a:avLst/>
              <a:gdLst/>
              <a:ahLst/>
              <a:cxnLst/>
              <a:rect r="r" b="b" t="t" l="l"/>
              <a:pathLst>
                <a:path h="71613" w="937876">
                  <a:moveTo>
                    <a:pt x="13430" y="0"/>
                  </a:moveTo>
                  <a:lnTo>
                    <a:pt x="924446" y="0"/>
                  </a:lnTo>
                  <a:cubicBezTo>
                    <a:pt x="928008" y="0"/>
                    <a:pt x="931423" y="1415"/>
                    <a:pt x="933942" y="3933"/>
                  </a:cubicBezTo>
                  <a:cubicBezTo>
                    <a:pt x="936461" y="6452"/>
                    <a:pt x="937876" y="9868"/>
                    <a:pt x="937876" y="13430"/>
                  </a:cubicBezTo>
                  <a:lnTo>
                    <a:pt x="937876" y="58183"/>
                  </a:lnTo>
                  <a:cubicBezTo>
                    <a:pt x="937876" y="61745"/>
                    <a:pt x="936461" y="65161"/>
                    <a:pt x="933942" y="67679"/>
                  </a:cubicBezTo>
                  <a:cubicBezTo>
                    <a:pt x="931423" y="70198"/>
                    <a:pt x="928008" y="71613"/>
                    <a:pt x="924446" y="71613"/>
                  </a:cubicBezTo>
                  <a:lnTo>
                    <a:pt x="13430" y="71613"/>
                  </a:lnTo>
                  <a:cubicBezTo>
                    <a:pt x="9868" y="71613"/>
                    <a:pt x="6452" y="70198"/>
                    <a:pt x="3933" y="67679"/>
                  </a:cubicBezTo>
                  <a:cubicBezTo>
                    <a:pt x="1415" y="65161"/>
                    <a:pt x="0" y="61745"/>
                    <a:pt x="0" y="58183"/>
                  </a:cubicBezTo>
                  <a:lnTo>
                    <a:pt x="0" y="13430"/>
                  </a:lnTo>
                  <a:cubicBezTo>
                    <a:pt x="0" y="9868"/>
                    <a:pt x="1415" y="6452"/>
                    <a:pt x="3933" y="3933"/>
                  </a:cubicBezTo>
                  <a:cubicBezTo>
                    <a:pt x="6452" y="1415"/>
                    <a:pt x="9868" y="0"/>
                    <a:pt x="1343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37875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Parse + map OFAC SDN</a:t>
              </a:r>
              <a:r>
                <a:rPr lang="en-US" sz="22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by extracting each entity’s primary country, normalizing country text, and converting to ISO3 (overrides + pycountry) with coverage checks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7046581"/>
            <a:ext cx="11259364" cy="859726"/>
            <a:chOff x="0" y="0"/>
            <a:chExt cx="937875" cy="71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876" cy="71613"/>
            </a:xfrm>
            <a:custGeom>
              <a:avLst/>
              <a:gdLst/>
              <a:ahLst/>
              <a:cxnLst/>
              <a:rect r="r" b="b" t="t" l="l"/>
              <a:pathLst>
                <a:path h="71613" w="937876">
                  <a:moveTo>
                    <a:pt x="13430" y="0"/>
                  </a:moveTo>
                  <a:lnTo>
                    <a:pt x="924446" y="0"/>
                  </a:lnTo>
                  <a:cubicBezTo>
                    <a:pt x="928008" y="0"/>
                    <a:pt x="931423" y="1415"/>
                    <a:pt x="933942" y="3933"/>
                  </a:cubicBezTo>
                  <a:cubicBezTo>
                    <a:pt x="936461" y="6452"/>
                    <a:pt x="937876" y="9868"/>
                    <a:pt x="937876" y="13430"/>
                  </a:cubicBezTo>
                  <a:lnTo>
                    <a:pt x="937876" y="58183"/>
                  </a:lnTo>
                  <a:cubicBezTo>
                    <a:pt x="937876" y="61745"/>
                    <a:pt x="936461" y="65161"/>
                    <a:pt x="933942" y="67679"/>
                  </a:cubicBezTo>
                  <a:cubicBezTo>
                    <a:pt x="931423" y="70198"/>
                    <a:pt x="928008" y="71613"/>
                    <a:pt x="924446" y="71613"/>
                  </a:cubicBezTo>
                  <a:lnTo>
                    <a:pt x="13430" y="71613"/>
                  </a:lnTo>
                  <a:cubicBezTo>
                    <a:pt x="9868" y="71613"/>
                    <a:pt x="6452" y="70198"/>
                    <a:pt x="3933" y="67679"/>
                  </a:cubicBezTo>
                  <a:cubicBezTo>
                    <a:pt x="1415" y="65161"/>
                    <a:pt x="0" y="61745"/>
                    <a:pt x="0" y="58183"/>
                  </a:cubicBezTo>
                  <a:lnTo>
                    <a:pt x="0" y="13430"/>
                  </a:lnTo>
                  <a:cubicBezTo>
                    <a:pt x="0" y="9868"/>
                    <a:pt x="1415" y="6452"/>
                    <a:pt x="3933" y="3933"/>
                  </a:cubicBezTo>
                  <a:cubicBezTo>
                    <a:pt x="6452" y="1415"/>
                    <a:pt x="9868" y="0"/>
                    <a:pt x="1343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37875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Aggregate + merge OFAC</a:t>
              </a:r>
              <a:r>
                <a:rPr lang="en-US" sz="22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by rolling entity-level OFAC into country-level counts (ofac_entities, ofac_entity_country_links) and left-joining onto the country nodes table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750" y="8297298"/>
            <a:ext cx="11259364" cy="859726"/>
            <a:chOff x="0" y="0"/>
            <a:chExt cx="937875" cy="716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7876" cy="71613"/>
            </a:xfrm>
            <a:custGeom>
              <a:avLst/>
              <a:gdLst/>
              <a:ahLst/>
              <a:cxnLst/>
              <a:rect r="r" b="b" t="t" l="l"/>
              <a:pathLst>
                <a:path h="71613" w="937876">
                  <a:moveTo>
                    <a:pt x="13430" y="0"/>
                  </a:moveTo>
                  <a:lnTo>
                    <a:pt x="924446" y="0"/>
                  </a:lnTo>
                  <a:cubicBezTo>
                    <a:pt x="928008" y="0"/>
                    <a:pt x="931423" y="1415"/>
                    <a:pt x="933942" y="3933"/>
                  </a:cubicBezTo>
                  <a:cubicBezTo>
                    <a:pt x="936461" y="6452"/>
                    <a:pt x="937876" y="9868"/>
                    <a:pt x="937876" y="13430"/>
                  </a:cubicBezTo>
                  <a:lnTo>
                    <a:pt x="937876" y="58183"/>
                  </a:lnTo>
                  <a:cubicBezTo>
                    <a:pt x="937876" y="61745"/>
                    <a:pt x="936461" y="65161"/>
                    <a:pt x="933942" y="67679"/>
                  </a:cubicBezTo>
                  <a:cubicBezTo>
                    <a:pt x="931423" y="70198"/>
                    <a:pt x="928008" y="71613"/>
                    <a:pt x="924446" y="71613"/>
                  </a:cubicBezTo>
                  <a:lnTo>
                    <a:pt x="13430" y="71613"/>
                  </a:lnTo>
                  <a:cubicBezTo>
                    <a:pt x="9868" y="71613"/>
                    <a:pt x="6452" y="70198"/>
                    <a:pt x="3933" y="67679"/>
                  </a:cubicBezTo>
                  <a:cubicBezTo>
                    <a:pt x="1415" y="65161"/>
                    <a:pt x="0" y="61745"/>
                    <a:pt x="0" y="58183"/>
                  </a:cubicBezTo>
                  <a:lnTo>
                    <a:pt x="0" y="13430"/>
                  </a:lnTo>
                  <a:cubicBezTo>
                    <a:pt x="0" y="9868"/>
                    <a:pt x="1415" y="6452"/>
                    <a:pt x="3933" y="3933"/>
                  </a:cubicBezTo>
                  <a:cubicBezTo>
                    <a:pt x="6452" y="1415"/>
                    <a:pt x="9868" y="0"/>
                    <a:pt x="1343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37875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Compute per-year network metrics</a:t>
              </a:r>
              <a:r>
                <a:rPr lang="en-US" sz="22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(betweenness, degrees, total trade volume) from the directed trade graph built from edges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0765" y="3399800"/>
            <a:ext cx="648990" cy="64899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6750" y="1743920"/>
            <a:ext cx="68865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 Pipeline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0765" y="4650517"/>
            <a:ext cx="648990" cy="64899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0765" y="5900175"/>
            <a:ext cx="648990" cy="64899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0765" y="7150891"/>
            <a:ext cx="648990" cy="64899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0765" y="8401607"/>
            <a:ext cx="648990" cy="64899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886200" y="5705888"/>
            <a:ext cx="1448299" cy="144829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5509260" y="6449087"/>
            <a:ext cx="6492240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2329477" y="5724938"/>
            <a:ext cx="1448299" cy="14482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786562" y="5190843"/>
            <a:ext cx="37869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>
                <a:solidFill>
                  <a:srgbClr val="5CE1E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Nodes - Exporter/Importer 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3053626" y="5371818"/>
            <a:ext cx="0" cy="35312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0573553" y="5371818"/>
            <a:ext cx="2480074" cy="1905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610350" y="5352768"/>
            <a:ext cx="0" cy="35312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4610350" y="5352768"/>
            <a:ext cx="2090809" cy="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3524250" y="7242139"/>
            <a:ext cx="0" cy="583268"/>
          </a:xfrm>
          <a:prstGeom prst="line">
            <a:avLst/>
          </a:prstGeom>
          <a:ln cap="flat" w="3810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3524336" y="7813639"/>
            <a:ext cx="10763569" cy="11769"/>
          </a:xfrm>
          <a:prstGeom prst="line">
            <a:avLst/>
          </a:prstGeom>
          <a:ln cap="flat" w="3810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268854" y="7242139"/>
            <a:ext cx="0" cy="583268"/>
          </a:xfrm>
          <a:prstGeom prst="line">
            <a:avLst/>
          </a:prstGeom>
          <a:ln cap="flat" w="3810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857500" y="8139732"/>
            <a:ext cx="12573000" cy="712132"/>
            <a:chOff x="0" y="0"/>
            <a:chExt cx="949430" cy="537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9430" cy="53775"/>
            </a:xfrm>
            <a:custGeom>
              <a:avLst/>
              <a:gdLst/>
              <a:ahLst/>
              <a:cxnLst/>
              <a:rect r="r" b="b" t="t" l="l"/>
              <a:pathLst>
                <a:path h="53775" w="949430">
                  <a:moveTo>
                    <a:pt x="0" y="0"/>
                  </a:moveTo>
                  <a:lnTo>
                    <a:pt x="949430" y="0"/>
                  </a:lnTo>
                  <a:lnTo>
                    <a:pt x="949430" y="53775"/>
                  </a:lnTo>
                  <a:lnTo>
                    <a:pt x="0" y="5377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9430" cy="2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" y="1743920"/>
            <a:ext cx="9061069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Building the Network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24250" y="3911810"/>
            <a:ext cx="1178008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We built directed weighted graphs for each year from 2019–2024 using UN Comtrade bilateral oil flows. 232 country nodes connected by 45,513 trade edges.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46340" y="8319585"/>
            <a:ext cx="1076356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Calculate node metrics -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betweenness centrality, in/out degree, and total trade/ node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38493" y="6565864"/>
            <a:ext cx="378699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Weighted Edge </a:t>
            </a:r>
          </a:p>
          <a:p>
            <a:pPr algn="ctr" marL="0" indent="0" lvl="0">
              <a:lnSpc>
                <a:spcPts val="2520"/>
              </a:lnSpc>
            </a:pPr>
            <a:r>
              <a:rPr lang="en-US" sz="2100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(Trade value in USD)</a:t>
            </a:r>
          </a:p>
        </p:txBody>
      </p:sp>
      <p:sp>
        <p:nvSpPr>
          <p:cNvPr name="AutoShape 26" id="26"/>
          <p:cNvSpPr/>
          <p:nvPr/>
        </p:nvSpPr>
        <p:spPr>
          <a:xfrm>
            <a:off x="8906120" y="7819523"/>
            <a:ext cx="0" cy="320209"/>
          </a:xfrm>
          <a:prstGeom prst="line">
            <a:avLst/>
          </a:prstGeom>
          <a:ln cap="flat" w="38100">
            <a:solidFill>
              <a:srgbClr val="FFFFFF"/>
            </a:solidFill>
            <a:prstDash val="lgDash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3236" y="4266765"/>
            <a:ext cx="5347412" cy="4764504"/>
            <a:chOff x="0" y="0"/>
            <a:chExt cx="1408372" cy="12548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8372" cy="1254849"/>
            </a:xfrm>
            <a:custGeom>
              <a:avLst/>
              <a:gdLst/>
              <a:ahLst/>
              <a:cxnLst/>
              <a:rect r="r" b="b" t="t" l="l"/>
              <a:pathLst>
                <a:path h="1254849" w="1408372">
                  <a:moveTo>
                    <a:pt x="0" y="0"/>
                  </a:moveTo>
                  <a:lnTo>
                    <a:pt x="1408372" y="0"/>
                  </a:lnTo>
                  <a:lnTo>
                    <a:pt x="1408372" y="1254849"/>
                  </a:lnTo>
                  <a:lnTo>
                    <a:pt x="0" y="12548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408372" cy="1226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96984" y="4277371"/>
            <a:ext cx="2255445" cy="563256"/>
            <a:chOff x="0" y="0"/>
            <a:chExt cx="594027" cy="148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4027" cy="148347"/>
            </a:xfrm>
            <a:custGeom>
              <a:avLst/>
              <a:gdLst/>
              <a:ahLst/>
              <a:cxnLst/>
              <a:rect r="r" b="b" t="t" l="l"/>
              <a:pathLst>
                <a:path h="148347" w="594027">
                  <a:moveTo>
                    <a:pt x="0" y="0"/>
                  </a:moveTo>
                  <a:lnTo>
                    <a:pt x="594027" y="0"/>
                  </a:lnTo>
                  <a:lnTo>
                    <a:pt x="594027" y="148347"/>
                  </a:lnTo>
                  <a:lnTo>
                    <a:pt x="0" y="148347"/>
                  </a:ln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594027" cy="1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400" spc="-4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Methodology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21537" y="5180159"/>
            <a:ext cx="4898306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Regress log(betweenness) vs log(trade volume) 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for per year’s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1504" y="6298154"/>
            <a:ext cx="3518371" cy="26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 residual as shadow hub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58866" y="7168105"/>
            <a:ext cx="5023647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Residual &gt; 0 ⇒ “more central than expected”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Residual &lt; 0 ⇒ “less central than expected”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70690" y="5697685"/>
            <a:ext cx="0" cy="571894"/>
          </a:xfrm>
          <a:prstGeom prst="line">
            <a:avLst/>
          </a:prstGeom>
          <a:ln cap="flat" w="38100">
            <a:solidFill>
              <a:srgbClr val="737373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>
            <a:off x="6270690" y="6568030"/>
            <a:ext cx="0" cy="571500"/>
          </a:xfrm>
          <a:prstGeom prst="line">
            <a:avLst/>
          </a:prstGeom>
          <a:ln cap="flat" w="38100">
            <a:solidFill>
              <a:srgbClr val="737373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3746416" y="8222413"/>
            <a:ext cx="5023647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Overlay OFAC SDN entity count 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(jurisdictional sanctions footprint)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6258240" y="7685630"/>
            <a:ext cx="12450" cy="508208"/>
          </a:xfrm>
          <a:prstGeom prst="line">
            <a:avLst/>
          </a:prstGeom>
          <a:ln cap="flat" w="38100">
            <a:solidFill>
              <a:srgbClr val="737373"/>
            </a:solidFill>
            <a:prstDash val="sysDot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11865218" y="4175414"/>
            <a:ext cx="2825798" cy="4947205"/>
            <a:chOff x="0" y="0"/>
            <a:chExt cx="744243" cy="1302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4243" cy="1302968"/>
            </a:xfrm>
            <a:custGeom>
              <a:avLst/>
              <a:gdLst/>
              <a:ahLst/>
              <a:cxnLst/>
              <a:rect r="r" b="b" t="t" l="l"/>
              <a:pathLst>
                <a:path h="1302968" w="744243">
                  <a:moveTo>
                    <a:pt x="0" y="0"/>
                  </a:moveTo>
                  <a:lnTo>
                    <a:pt x="744243" y="0"/>
                  </a:lnTo>
                  <a:lnTo>
                    <a:pt x="744243" y="1302968"/>
                  </a:lnTo>
                  <a:lnTo>
                    <a:pt x="0" y="1302968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744243" cy="1274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07823" y="4277371"/>
            <a:ext cx="2600245" cy="2286791"/>
            <a:chOff x="0" y="0"/>
            <a:chExt cx="684838" cy="60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838" cy="602282"/>
            </a:xfrm>
            <a:custGeom>
              <a:avLst/>
              <a:gdLst/>
              <a:ahLst/>
              <a:cxnLst/>
              <a:rect r="r" b="b" t="t" l="l"/>
              <a:pathLst>
                <a:path h="602282" w="684838">
                  <a:moveTo>
                    <a:pt x="0" y="0"/>
                  </a:moveTo>
                  <a:lnTo>
                    <a:pt x="684838" y="0"/>
                  </a:lnTo>
                  <a:lnTo>
                    <a:pt x="684838" y="602282"/>
                  </a:lnTo>
                  <a:lnTo>
                    <a:pt x="0" y="60228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684838" cy="57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6750" y="1743920"/>
            <a:ext cx="1014228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Shadow Hub Detection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73346" y="4281239"/>
            <a:ext cx="2600245" cy="2286791"/>
            <a:chOff x="0" y="0"/>
            <a:chExt cx="684838" cy="6022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838" cy="602282"/>
            </a:xfrm>
            <a:custGeom>
              <a:avLst/>
              <a:gdLst/>
              <a:ahLst/>
              <a:cxnLst/>
              <a:rect r="r" b="b" t="t" l="l"/>
              <a:pathLst>
                <a:path h="602282" w="684838">
                  <a:moveTo>
                    <a:pt x="0" y="0"/>
                  </a:moveTo>
                  <a:lnTo>
                    <a:pt x="684838" y="0"/>
                  </a:lnTo>
                  <a:lnTo>
                    <a:pt x="684838" y="602282"/>
                  </a:lnTo>
                  <a:lnTo>
                    <a:pt x="0" y="60228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684838" cy="57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07823" y="6755085"/>
            <a:ext cx="2600245" cy="2286791"/>
            <a:chOff x="0" y="0"/>
            <a:chExt cx="684838" cy="6022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4838" cy="602282"/>
            </a:xfrm>
            <a:custGeom>
              <a:avLst/>
              <a:gdLst/>
              <a:ahLst/>
              <a:cxnLst/>
              <a:rect r="r" b="b" t="t" l="l"/>
              <a:pathLst>
                <a:path h="602282" w="684838">
                  <a:moveTo>
                    <a:pt x="0" y="0"/>
                  </a:moveTo>
                  <a:lnTo>
                    <a:pt x="684838" y="0"/>
                  </a:lnTo>
                  <a:lnTo>
                    <a:pt x="684838" y="602282"/>
                  </a:lnTo>
                  <a:lnTo>
                    <a:pt x="0" y="60228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684838" cy="57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73346" y="6755085"/>
            <a:ext cx="2600245" cy="2286791"/>
            <a:chOff x="0" y="0"/>
            <a:chExt cx="684838" cy="6022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4838" cy="602282"/>
            </a:xfrm>
            <a:custGeom>
              <a:avLst/>
              <a:gdLst/>
              <a:ahLst/>
              <a:cxnLst/>
              <a:rect r="r" b="b" t="t" l="l"/>
              <a:pathLst>
                <a:path h="602282" w="684838">
                  <a:moveTo>
                    <a:pt x="0" y="0"/>
                  </a:moveTo>
                  <a:lnTo>
                    <a:pt x="684838" y="0"/>
                  </a:lnTo>
                  <a:lnTo>
                    <a:pt x="684838" y="602282"/>
                  </a:lnTo>
                  <a:lnTo>
                    <a:pt x="0" y="60228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684838" cy="57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018334" y="5628229"/>
            <a:ext cx="2510270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Sha</a:t>
            </a: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dow hub + sanctions footprint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6074" y="4692125"/>
            <a:ext cx="1691506" cy="57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 Residual</a:t>
            </a: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 OFAC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99251" y="4692125"/>
            <a:ext cx="1617390" cy="57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Low Residual</a:t>
            </a: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 OFAC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99251" y="7062263"/>
            <a:ext cx="1617390" cy="57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Low Residual</a:t>
            </a: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Low OFAC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27716" y="7105875"/>
            <a:ext cx="1691506" cy="57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 Residual</a:t>
            </a: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Low OFAC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2811" y="5504404"/>
            <a:ext cx="2510270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Sanc</a:t>
            </a: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tions-heavy, 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not a hub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2811" y="7974763"/>
            <a:ext cx="2510270" cy="26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aseline / typical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18334" y="7974763"/>
            <a:ext cx="2510270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Unexpec</a:t>
            </a:r>
            <a:r>
              <a:rPr lang="en-US" sz="2000" spc="-4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ted intermediary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07823" y="3523615"/>
            <a:ext cx="5483193" cy="563256"/>
            <a:chOff x="0" y="0"/>
            <a:chExt cx="1444133" cy="1483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44133" cy="148347"/>
            </a:xfrm>
            <a:custGeom>
              <a:avLst/>
              <a:gdLst/>
              <a:ahLst/>
              <a:cxnLst/>
              <a:rect r="r" b="b" t="t" l="l"/>
              <a:pathLst>
                <a:path h="148347" w="1444133">
                  <a:moveTo>
                    <a:pt x="0" y="0"/>
                  </a:moveTo>
                  <a:lnTo>
                    <a:pt x="1444133" y="0"/>
                  </a:lnTo>
                  <a:lnTo>
                    <a:pt x="1444133" y="148347"/>
                  </a:lnTo>
                  <a:lnTo>
                    <a:pt x="0" y="1483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38100"/>
              <a:ext cx="1444133" cy="1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400" spc="-48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Interpretation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972195" y="4017915"/>
            <a:ext cx="19050" cy="3195387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3" id="3"/>
          <p:cNvGrpSpPr/>
          <p:nvPr/>
        </p:nvGrpSpPr>
        <p:grpSpPr>
          <a:xfrm rot="0">
            <a:off x="812735" y="3940555"/>
            <a:ext cx="6096638" cy="859726"/>
            <a:chOff x="0" y="0"/>
            <a:chExt cx="507834" cy="716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7834" cy="71613"/>
            </a:xfrm>
            <a:custGeom>
              <a:avLst/>
              <a:gdLst/>
              <a:ahLst/>
              <a:cxnLst/>
              <a:rect r="r" b="b" t="t" l="l"/>
              <a:pathLst>
                <a:path h="71613" w="507834">
                  <a:moveTo>
                    <a:pt x="24802" y="0"/>
                  </a:moveTo>
                  <a:lnTo>
                    <a:pt x="483032" y="0"/>
                  </a:lnTo>
                  <a:cubicBezTo>
                    <a:pt x="489610" y="0"/>
                    <a:pt x="495918" y="2613"/>
                    <a:pt x="500570" y="7264"/>
                  </a:cubicBezTo>
                  <a:cubicBezTo>
                    <a:pt x="505221" y="11916"/>
                    <a:pt x="507834" y="18224"/>
                    <a:pt x="507834" y="24802"/>
                  </a:cubicBezTo>
                  <a:lnTo>
                    <a:pt x="507834" y="46811"/>
                  </a:lnTo>
                  <a:cubicBezTo>
                    <a:pt x="507834" y="53389"/>
                    <a:pt x="505221" y="59697"/>
                    <a:pt x="500570" y="64349"/>
                  </a:cubicBezTo>
                  <a:cubicBezTo>
                    <a:pt x="495918" y="69000"/>
                    <a:pt x="489610" y="71613"/>
                    <a:pt x="483032" y="71613"/>
                  </a:cubicBezTo>
                  <a:lnTo>
                    <a:pt x="24802" y="71613"/>
                  </a:lnTo>
                  <a:cubicBezTo>
                    <a:pt x="11104" y="71613"/>
                    <a:pt x="0" y="60509"/>
                    <a:pt x="0" y="46811"/>
                  </a:cubicBezTo>
                  <a:lnTo>
                    <a:pt x="0" y="24802"/>
                  </a:lnTo>
                  <a:cubicBezTo>
                    <a:pt x="0" y="11104"/>
                    <a:pt x="11104" y="0"/>
                    <a:pt x="24802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07834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Massive global economies break standard network anomaly models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12735" y="5047932"/>
            <a:ext cx="6096638" cy="1088326"/>
            <a:chOff x="0" y="0"/>
            <a:chExt cx="507834" cy="906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7834" cy="90655"/>
            </a:xfrm>
            <a:custGeom>
              <a:avLst/>
              <a:gdLst/>
              <a:ahLst/>
              <a:cxnLst/>
              <a:rect r="r" b="b" t="t" l="l"/>
              <a:pathLst>
                <a:path h="90655" w="507834">
                  <a:moveTo>
                    <a:pt x="24802" y="0"/>
                  </a:moveTo>
                  <a:lnTo>
                    <a:pt x="483032" y="0"/>
                  </a:lnTo>
                  <a:cubicBezTo>
                    <a:pt x="489610" y="0"/>
                    <a:pt x="495918" y="2613"/>
                    <a:pt x="500570" y="7264"/>
                  </a:cubicBezTo>
                  <a:cubicBezTo>
                    <a:pt x="505221" y="11916"/>
                    <a:pt x="507834" y="18224"/>
                    <a:pt x="507834" y="24802"/>
                  </a:cubicBezTo>
                  <a:lnTo>
                    <a:pt x="507834" y="65853"/>
                  </a:lnTo>
                  <a:cubicBezTo>
                    <a:pt x="507834" y="79550"/>
                    <a:pt x="496730" y="90655"/>
                    <a:pt x="483032" y="90655"/>
                  </a:cubicBezTo>
                  <a:lnTo>
                    <a:pt x="24802" y="90655"/>
                  </a:lnTo>
                  <a:cubicBezTo>
                    <a:pt x="18224" y="90655"/>
                    <a:pt x="11916" y="88042"/>
                    <a:pt x="7264" y="83390"/>
                  </a:cubicBezTo>
                  <a:cubicBezTo>
                    <a:pt x="2613" y="78739"/>
                    <a:pt x="0" y="72431"/>
                    <a:pt x="0" y="65853"/>
                  </a:cubicBezTo>
                  <a:lnTo>
                    <a:pt x="0" y="24802"/>
                  </a:lnTo>
                  <a:cubicBezTo>
                    <a:pt x="0" y="11104"/>
                    <a:pt x="11104" y="0"/>
                    <a:pt x="24802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07834" cy="9065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2022 Sanctions shattered direct trade, forcing complex European reroutes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2735" y="6469633"/>
            <a:ext cx="6096638" cy="859726"/>
            <a:chOff x="0" y="0"/>
            <a:chExt cx="507834" cy="716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7834" cy="71613"/>
            </a:xfrm>
            <a:custGeom>
              <a:avLst/>
              <a:gdLst/>
              <a:ahLst/>
              <a:cxnLst/>
              <a:rect r="r" b="b" t="t" l="l"/>
              <a:pathLst>
                <a:path h="71613" w="507834">
                  <a:moveTo>
                    <a:pt x="24802" y="0"/>
                  </a:moveTo>
                  <a:lnTo>
                    <a:pt x="483032" y="0"/>
                  </a:lnTo>
                  <a:cubicBezTo>
                    <a:pt x="489610" y="0"/>
                    <a:pt x="495918" y="2613"/>
                    <a:pt x="500570" y="7264"/>
                  </a:cubicBezTo>
                  <a:cubicBezTo>
                    <a:pt x="505221" y="11916"/>
                    <a:pt x="507834" y="18224"/>
                    <a:pt x="507834" y="24802"/>
                  </a:cubicBezTo>
                  <a:lnTo>
                    <a:pt x="507834" y="46811"/>
                  </a:lnTo>
                  <a:cubicBezTo>
                    <a:pt x="507834" y="53389"/>
                    <a:pt x="505221" y="59697"/>
                    <a:pt x="500570" y="64349"/>
                  </a:cubicBezTo>
                  <a:cubicBezTo>
                    <a:pt x="495918" y="69000"/>
                    <a:pt x="489610" y="71613"/>
                    <a:pt x="483032" y="71613"/>
                  </a:cubicBezTo>
                  <a:lnTo>
                    <a:pt x="24802" y="71613"/>
                  </a:lnTo>
                  <a:cubicBezTo>
                    <a:pt x="11104" y="71613"/>
                    <a:pt x="0" y="60509"/>
                    <a:pt x="0" y="46811"/>
                  </a:cubicBezTo>
                  <a:lnTo>
                    <a:pt x="0" y="24802"/>
                  </a:lnTo>
                  <a:cubicBezTo>
                    <a:pt x="0" y="11104"/>
                    <a:pt x="11104" y="0"/>
                    <a:pt x="24802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07834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Emerging hubs: highest change in residual shadow (From 2021 to 2024)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6750" y="4064043"/>
            <a:ext cx="648990" cy="64899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6750" y="5314759"/>
            <a:ext cx="648990" cy="64899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6750" y="6564417"/>
            <a:ext cx="648990" cy="64899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0" y="95334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0" y="996961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2918509" y="1194826"/>
            <a:ext cx="4340791" cy="3272585"/>
          </a:xfrm>
          <a:custGeom>
            <a:avLst/>
            <a:gdLst/>
            <a:ahLst/>
            <a:cxnLst/>
            <a:rect r="r" b="b" t="t" l="l"/>
            <a:pathLst>
              <a:path h="3272585" w="4340791">
                <a:moveTo>
                  <a:pt x="0" y="0"/>
                </a:moveTo>
                <a:lnTo>
                  <a:pt x="4340791" y="0"/>
                </a:lnTo>
                <a:lnTo>
                  <a:pt x="4340791" y="3272585"/>
                </a:lnTo>
                <a:lnTo>
                  <a:pt x="0" y="3272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9" t="0" r="-578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091240" y="5851332"/>
            <a:ext cx="4341018" cy="3406968"/>
          </a:xfrm>
          <a:custGeom>
            <a:avLst/>
            <a:gdLst/>
            <a:ahLst/>
            <a:cxnLst/>
            <a:rect r="r" b="b" t="t" l="l"/>
            <a:pathLst>
              <a:path h="3406968" w="4341018">
                <a:moveTo>
                  <a:pt x="0" y="0"/>
                </a:moveTo>
                <a:lnTo>
                  <a:pt x="4341018" y="0"/>
                </a:lnTo>
                <a:lnTo>
                  <a:pt x="4341018" y="3406968"/>
                </a:lnTo>
                <a:lnTo>
                  <a:pt x="0" y="3406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61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528281" y="1194826"/>
            <a:ext cx="4020407" cy="3343463"/>
          </a:xfrm>
          <a:custGeom>
            <a:avLst/>
            <a:gdLst/>
            <a:ahLst/>
            <a:cxnLst/>
            <a:rect r="r" b="b" t="t" l="l"/>
            <a:pathLst>
              <a:path h="3343463" w="4020407">
                <a:moveTo>
                  <a:pt x="0" y="0"/>
                </a:moveTo>
                <a:lnTo>
                  <a:pt x="4020407" y="0"/>
                </a:lnTo>
                <a:lnTo>
                  <a:pt x="4020407" y="3343463"/>
                </a:lnTo>
                <a:lnTo>
                  <a:pt x="0" y="3343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86" r="0" b="-658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750937" y="5993795"/>
            <a:ext cx="3797751" cy="3264505"/>
          </a:xfrm>
          <a:custGeom>
            <a:avLst/>
            <a:gdLst/>
            <a:ahLst/>
            <a:cxnLst/>
            <a:rect r="r" b="b" t="t" l="l"/>
            <a:pathLst>
              <a:path h="3264505" w="3797751">
                <a:moveTo>
                  <a:pt x="0" y="0"/>
                </a:moveTo>
                <a:lnTo>
                  <a:pt x="3797751" y="0"/>
                </a:lnTo>
                <a:lnTo>
                  <a:pt x="3797751" y="3264505"/>
                </a:lnTo>
                <a:lnTo>
                  <a:pt x="0" y="3264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66750" y="1743920"/>
            <a:ext cx="1014228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Network Analysis</a:t>
            </a:r>
          </a:p>
        </p:txBody>
      </p:sp>
      <p:sp>
        <p:nvSpPr>
          <p:cNvPr name="AutoShape 28" id="28"/>
          <p:cNvSpPr/>
          <p:nvPr/>
        </p:nvSpPr>
        <p:spPr>
          <a:xfrm flipH="true">
            <a:off x="10649812" y="4538593"/>
            <a:ext cx="20743" cy="1301149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H="true">
            <a:off x="15274015" y="4492925"/>
            <a:ext cx="20743" cy="1301149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30" id="30"/>
          <p:cNvSpPr txBox="true"/>
          <p:nvPr/>
        </p:nvSpPr>
        <p:spPr>
          <a:xfrm rot="0">
            <a:off x="9976714" y="5006022"/>
            <a:ext cx="5285035" cy="30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After 2022 sanctions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763388" y="5681482"/>
            <a:ext cx="2812948" cy="0"/>
          </a:xfrm>
          <a:prstGeom prst="line">
            <a:avLst/>
          </a:prstGeom>
          <a:ln cap="flat" w="5715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54569" y="3406370"/>
            <a:ext cx="7069874" cy="4639605"/>
          </a:xfrm>
          <a:custGeom>
            <a:avLst/>
            <a:gdLst/>
            <a:ahLst/>
            <a:cxnLst/>
            <a:rect r="r" b="b" t="t" l="l"/>
            <a:pathLst>
              <a:path h="4639605" w="7069874">
                <a:moveTo>
                  <a:pt x="0" y="0"/>
                </a:moveTo>
                <a:lnTo>
                  <a:pt x="7069874" y="0"/>
                </a:lnTo>
                <a:lnTo>
                  <a:pt x="7069874" y="4639604"/>
                </a:lnTo>
                <a:lnTo>
                  <a:pt x="0" y="463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845260" y="3671481"/>
            <a:ext cx="19049" cy="4479187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666750" y="5394326"/>
            <a:ext cx="6096638" cy="574314"/>
            <a:chOff x="0" y="0"/>
            <a:chExt cx="507834" cy="478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7834" cy="47839"/>
            </a:xfrm>
            <a:custGeom>
              <a:avLst/>
              <a:gdLst/>
              <a:ahLst/>
              <a:cxnLst/>
              <a:rect r="r" b="b" t="t" l="l"/>
              <a:pathLst>
                <a:path h="47839" w="507834">
                  <a:moveTo>
                    <a:pt x="23919" y="0"/>
                  </a:moveTo>
                  <a:lnTo>
                    <a:pt x="483915" y="0"/>
                  </a:lnTo>
                  <a:cubicBezTo>
                    <a:pt x="490258" y="0"/>
                    <a:pt x="496342" y="2520"/>
                    <a:pt x="500828" y="7006"/>
                  </a:cubicBezTo>
                  <a:cubicBezTo>
                    <a:pt x="505314" y="11492"/>
                    <a:pt x="507834" y="17576"/>
                    <a:pt x="507834" y="23919"/>
                  </a:cubicBezTo>
                  <a:lnTo>
                    <a:pt x="507834" y="23919"/>
                  </a:lnTo>
                  <a:cubicBezTo>
                    <a:pt x="507834" y="30263"/>
                    <a:pt x="505314" y="36347"/>
                    <a:pt x="500828" y="40833"/>
                  </a:cubicBezTo>
                  <a:cubicBezTo>
                    <a:pt x="496342" y="45319"/>
                    <a:pt x="490258" y="47839"/>
                    <a:pt x="483915" y="47839"/>
                  </a:cubicBezTo>
                  <a:lnTo>
                    <a:pt x="23919" y="47839"/>
                  </a:lnTo>
                  <a:cubicBezTo>
                    <a:pt x="17576" y="47839"/>
                    <a:pt x="11492" y="45319"/>
                    <a:pt x="7006" y="40833"/>
                  </a:cubicBezTo>
                  <a:cubicBezTo>
                    <a:pt x="2520" y="36347"/>
                    <a:pt x="0" y="30263"/>
                    <a:pt x="0" y="23919"/>
                  </a:cubicBezTo>
                  <a:lnTo>
                    <a:pt x="0" y="23919"/>
                  </a:lnTo>
                  <a:cubicBezTo>
                    <a:pt x="0" y="17576"/>
                    <a:pt x="2520" y="11492"/>
                    <a:pt x="7006" y="7006"/>
                  </a:cubicBezTo>
                  <a:cubicBezTo>
                    <a:pt x="11492" y="2520"/>
                    <a:pt x="17576" y="0"/>
                    <a:pt x="23919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07834" cy="47839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Oil "Washing Machine" Effect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3560553"/>
            <a:ext cx="6096638" cy="1088326"/>
            <a:chOff x="0" y="0"/>
            <a:chExt cx="507834" cy="906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7834" cy="90655"/>
            </a:xfrm>
            <a:custGeom>
              <a:avLst/>
              <a:gdLst/>
              <a:ahLst/>
              <a:cxnLst/>
              <a:rect r="r" b="b" t="t" l="l"/>
              <a:pathLst>
                <a:path h="90655" w="507834">
                  <a:moveTo>
                    <a:pt x="24802" y="0"/>
                  </a:moveTo>
                  <a:lnTo>
                    <a:pt x="483032" y="0"/>
                  </a:lnTo>
                  <a:cubicBezTo>
                    <a:pt x="489610" y="0"/>
                    <a:pt x="495918" y="2613"/>
                    <a:pt x="500570" y="7264"/>
                  </a:cubicBezTo>
                  <a:cubicBezTo>
                    <a:pt x="505221" y="11916"/>
                    <a:pt x="507834" y="18224"/>
                    <a:pt x="507834" y="24802"/>
                  </a:cubicBezTo>
                  <a:lnTo>
                    <a:pt x="507834" y="65853"/>
                  </a:lnTo>
                  <a:cubicBezTo>
                    <a:pt x="507834" y="79550"/>
                    <a:pt x="496730" y="90655"/>
                    <a:pt x="483032" y="90655"/>
                  </a:cubicBezTo>
                  <a:lnTo>
                    <a:pt x="24802" y="90655"/>
                  </a:lnTo>
                  <a:cubicBezTo>
                    <a:pt x="18224" y="90655"/>
                    <a:pt x="11916" y="88042"/>
                    <a:pt x="7264" y="83390"/>
                  </a:cubicBezTo>
                  <a:cubicBezTo>
                    <a:pt x="2613" y="78739"/>
                    <a:pt x="0" y="72431"/>
                    <a:pt x="0" y="65853"/>
                  </a:cubicBezTo>
                  <a:lnTo>
                    <a:pt x="0" y="24802"/>
                  </a:lnTo>
                  <a:cubicBezTo>
                    <a:pt x="0" y="11104"/>
                    <a:pt x="11104" y="0"/>
                    <a:pt x="24802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07834" cy="9065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#1 Highest Weighted Clustering Score globally based on 2024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6635528"/>
            <a:ext cx="6096638" cy="1090034"/>
            <a:chOff x="0" y="0"/>
            <a:chExt cx="507834" cy="907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834" cy="90797"/>
            </a:xfrm>
            <a:custGeom>
              <a:avLst/>
              <a:gdLst/>
              <a:ahLst/>
              <a:cxnLst/>
              <a:rect r="r" b="b" t="t" l="l"/>
              <a:pathLst>
                <a:path h="90797" w="507834">
                  <a:moveTo>
                    <a:pt x="24802" y="0"/>
                  </a:moveTo>
                  <a:lnTo>
                    <a:pt x="483032" y="0"/>
                  </a:lnTo>
                  <a:cubicBezTo>
                    <a:pt x="489610" y="0"/>
                    <a:pt x="495918" y="2613"/>
                    <a:pt x="500570" y="7264"/>
                  </a:cubicBezTo>
                  <a:cubicBezTo>
                    <a:pt x="505221" y="11916"/>
                    <a:pt x="507834" y="18224"/>
                    <a:pt x="507834" y="24802"/>
                  </a:cubicBezTo>
                  <a:lnTo>
                    <a:pt x="507834" y="65995"/>
                  </a:lnTo>
                  <a:cubicBezTo>
                    <a:pt x="507834" y="79693"/>
                    <a:pt x="496730" y="90797"/>
                    <a:pt x="483032" y="90797"/>
                  </a:cubicBezTo>
                  <a:lnTo>
                    <a:pt x="24802" y="90797"/>
                  </a:lnTo>
                  <a:cubicBezTo>
                    <a:pt x="11104" y="90797"/>
                    <a:pt x="0" y="79693"/>
                    <a:pt x="0" y="65995"/>
                  </a:cubicBezTo>
                  <a:lnTo>
                    <a:pt x="0" y="24802"/>
                  </a:lnTo>
                  <a:cubicBezTo>
                    <a:pt x="0" y="11104"/>
                    <a:pt x="11104" y="0"/>
                    <a:pt x="24802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07834" cy="90797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Disguise sanctioned Russian crude as a clean "Caspian blend."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54569" y="2784818"/>
            <a:ext cx="7069874" cy="535876"/>
            <a:chOff x="0" y="0"/>
            <a:chExt cx="588902" cy="446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8902" cy="44637"/>
            </a:xfrm>
            <a:custGeom>
              <a:avLst/>
              <a:gdLst/>
              <a:ahLst/>
              <a:cxnLst/>
              <a:rect r="r" b="b" t="t" l="l"/>
              <a:pathLst>
                <a:path h="44637" w="588902">
                  <a:moveTo>
                    <a:pt x="21388" y="0"/>
                  </a:moveTo>
                  <a:lnTo>
                    <a:pt x="567514" y="0"/>
                  </a:lnTo>
                  <a:cubicBezTo>
                    <a:pt x="579326" y="0"/>
                    <a:pt x="588902" y="9576"/>
                    <a:pt x="588902" y="21388"/>
                  </a:cubicBezTo>
                  <a:lnTo>
                    <a:pt x="588902" y="23249"/>
                  </a:lnTo>
                  <a:cubicBezTo>
                    <a:pt x="588902" y="35061"/>
                    <a:pt x="579326" y="44637"/>
                    <a:pt x="567514" y="44637"/>
                  </a:cubicBezTo>
                  <a:lnTo>
                    <a:pt x="21388" y="44637"/>
                  </a:lnTo>
                  <a:cubicBezTo>
                    <a:pt x="9576" y="44637"/>
                    <a:pt x="0" y="35061"/>
                    <a:pt x="0" y="23249"/>
                  </a:cubicBezTo>
                  <a:lnTo>
                    <a:pt x="0" y="21388"/>
                  </a:lnTo>
                  <a:cubicBezTo>
                    <a:pt x="0" y="9576"/>
                    <a:pt x="9576" y="0"/>
                    <a:pt x="2138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88902" cy="44637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ctr">
                <a:lnSpc>
                  <a:spcPts val="2596"/>
                </a:lnSpc>
              </a:pPr>
              <a:r>
                <a:rPr lang="en-US" sz="2200" b="tru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Validated by a recent investigative journalism!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765" y="3750588"/>
            <a:ext cx="648990" cy="64899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0765" y="5427970"/>
            <a:ext cx="648990" cy="64899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9814" y="6856050"/>
            <a:ext cx="648990" cy="64899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47558" y="1067202"/>
            <a:ext cx="16755434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GEORGIA- the laundering syndicate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54569" y="8213879"/>
            <a:ext cx="7069874" cy="30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 spc="-44" u="sng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3" tooltip="https://youtu.be/CwIZ8aACRSo"/>
              </a:rPr>
              <a:t>https://youtu.be/CwIZ8aACRSo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596006" y="6267717"/>
            <a:ext cx="1094524" cy="22476"/>
          </a:xfrm>
          <a:prstGeom prst="line">
            <a:avLst/>
          </a:prstGeom>
          <a:ln cap="flat" w="5715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787480" y="1562945"/>
            <a:ext cx="541222" cy="516621"/>
          </a:xfrm>
          <a:custGeom>
            <a:avLst/>
            <a:gdLst/>
            <a:ahLst/>
            <a:cxnLst/>
            <a:rect r="r" b="b" t="t" l="l"/>
            <a:pathLst>
              <a:path h="516621" w="541222">
                <a:moveTo>
                  <a:pt x="0" y="0"/>
                </a:moveTo>
                <a:lnTo>
                  <a:pt x="541222" y="0"/>
                </a:lnTo>
                <a:lnTo>
                  <a:pt x="541222" y="516621"/>
                </a:lnTo>
                <a:lnTo>
                  <a:pt x="0" y="516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12918" y="3133160"/>
            <a:ext cx="6069964" cy="6314065"/>
          </a:xfrm>
          <a:custGeom>
            <a:avLst/>
            <a:gdLst/>
            <a:ahLst/>
            <a:cxnLst/>
            <a:rect r="r" b="b" t="t" l="l"/>
            <a:pathLst>
              <a:path h="6314065" w="6069964">
                <a:moveTo>
                  <a:pt x="0" y="0"/>
                </a:moveTo>
                <a:lnTo>
                  <a:pt x="6069965" y="0"/>
                </a:lnTo>
                <a:lnTo>
                  <a:pt x="6069965" y="6314065"/>
                </a:lnTo>
                <a:lnTo>
                  <a:pt x="0" y="6314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00716" y="3204093"/>
            <a:ext cx="6586619" cy="6172200"/>
          </a:xfrm>
          <a:custGeom>
            <a:avLst/>
            <a:gdLst/>
            <a:ahLst/>
            <a:cxnLst/>
            <a:rect r="r" b="b" t="t" l="l"/>
            <a:pathLst>
              <a:path h="6172200" w="6586619">
                <a:moveTo>
                  <a:pt x="0" y="0"/>
                </a:moveTo>
                <a:lnTo>
                  <a:pt x="6586620" y="0"/>
                </a:lnTo>
                <a:lnTo>
                  <a:pt x="658662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1743920"/>
            <a:ext cx="16825369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From Tables to a Graph DB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3280" y="3578842"/>
            <a:ext cx="4383221" cy="5479026"/>
          </a:xfrm>
          <a:custGeom>
            <a:avLst/>
            <a:gdLst/>
            <a:ahLst/>
            <a:cxnLst/>
            <a:rect r="r" b="b" t="t" l="l"/>
            <a:pathLst>
              <a:path h="5479026" w="4383221">
                <a:moveTo>
                  <a:pt x="0" y="0"/>
                </a:moveTo>
                <a:lnTo>
                  <a:pt x="4383221" y="0"/>
                </a:lnTo>
                <a:lnTo>
                  <a:pt x="4383221" y="5479026"/>
                </a:lnTo>
                <a:lnTo>
                  <a:pt x="0" y="547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5758521" y="6307117"/>
            <a:ext cx="1094524" cy="22476"/>
          </a:xfrm>
          <a:prstGeom prst="line">
            <a:avLst/>
          </a:prstGeom>
          <a:ln cap="flat" w="5715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25065" y="4193253"/>
            <a:ext cx="10059655" cy="4250204"/>
          </a:xfrm>
          <a:custGeom>
            <a:avLst/>
            <a:gdLst/>
            <a:ahLst/>
            <a:cxnLst/>
            <a:rect r="r" b="b" t="t" l="l"/>
            <a:pathLst>
              <a:path h="4250204" w="10059655">
                <a:moveTo>
                  <a:pt x="0" y="0"/>
                </a:moveTo>
                <a:lnTo>
                  <a:pt x="10059655" y="0"/>
                </a:lnTo>
                <a:lnTo>
                  <a:pt x="10059655" y="4250204"/>
                </a:lnTo>
                <a:lnTo>
                  <a:pt x="0" y="4250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1743920"/>
            <a:ext cx="16755434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Neo4j Schema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2952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3918" y="3416462"/>
            <a:ext cx="5515374" cy="5468356"/>
            <a:chOff x="0" y="0"/>
            <a:chExt cx="1452609" cy="1440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76598" y="3416462"/>
            <a:ext cx="5515374" cy="5468356"/>
            <a:chOff x="0" y="0"/>
            <a:chExt cx="1452609" cy="1440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3918" y="3416462"/>
            <a:ext cx="5515374" cy="1173252"/>
            <a:chOff x="0" y="0"/>
            <a:chExt cx="1452609" cy="309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Plan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76598" y="3416462"/>
            <a:ext cx="5515374" cy="1173252"/>
            <a:chOff x="0" y="0"/>
            <a:chExt cx="1452609" cy="3090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Retrieve &amp; Draft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8708" y="3416462"/>
            <a:ext cx="5515374" cy="5468356"/>
            <a:chOff x="0" y="0"/>
            <a:chExt cx="1452609" cy="14402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8708" y="3416462"/>
            <a:ext cx="5515374" cy="1173252"/>
            <a:chOff x="0" y="0"/>
            <a:chExt cx="1452609" cy="3090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Evaluate &amp; Refine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769902" y="1790391"/>
            <a:ext cx="313962" cy="305289"/>
          </a:xfrm>
          <a:custGeom>
            <a:avLst/>
            <a:gdLst/>
            <a:ahLst/>
            <a:cxnLst/>
            <a:rect r="r" b="b" t="t" l="l"/>
            <a:pathLst>
              <a:path h="305289" w="313962">
                <a:moveTo>
                  <a:pt x="0" y="0"/>
                </a:moveTo>
                <a:lnTo>
                  <a:pt x="313962" y="0"/>
                </a:lnTo>
                <a:lnTo>
                  <a:pt x="313962" y="305289"/>
                </a:lnTo>
                <a:lnTo>
                  <a:pt x="0" y="30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264829" y="3025985"/>
            <a:ext cx="471807" cy="848193"/>
          </a:xfrm>
          <a:custGeom>
            <a:avLst/>
            <a:gdLst/>
            <a:ahLst/>
            <a:cxnLst/>
            <a:rect r="r" b="b" t="t" l="l"/>
            <a:pathLst>
              <a:path h="848193" w="471807">
                <a:moveTo>
                  <a:pt x="0" y="0"/>
                </a:moveTo>
                <a:lnTo>
                  <a:pt x="471808" y="0"/>
                </a:lnTo>
                <a:lnTo>
                  <a:pt x="471808" y="848193"/>
                </a:lnTo>
                <a:lnTo>
                  <a:pt x="0" y="84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66750" y="1743920"/>
            <a:ext cx="1550023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GraphRAG Pipeline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151493" y="3025985"/>
            <a:ext cx="471807" cy="848193"/>
          </a:xfrm>
          <a:custGeom>
            <a:avLst/>
            <a:gdLst/>
            <a:ahLst/>
            <a:cxnLst/>
            <a:rect r="r" b="b" t="t" l="l"/>
            <a:pathLst>
              <a:path h="848193" w="471807">
                <a:moveTo>
                  <a:pt x="0" y="0"/>
                </a:moveTo>
                <a:lnTo>
                  <a:pt x="471808" y="0"/>
                </a:lnTo>
                <a:lnTo>
                  <a:pt x="471808" y="848193"/>
                </a:lnTo>
                <a:lnTo>
                  <a:pt x="0" y="84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259300" y="3025985"/>
            <a:ext cx="471807" cy="848193"/>
          </a:xfrm>
          <a:custGeom>
            <a:avLst/>
            <a:gdLst/>
            <a:ahLst/>
            <a:cxnLst/>
            <a:rect r="r" b="b" t="t" l="l"/>
            <a:pathLst>
              <a:path h="848193" w="471807">
                <a:moveTo>
                  <a:pt x="0" y="0"/>
                </a:moveTo>
                <a:lnTo>
                  <a:pt x="471807" y="0"/>
                </a:lnTo>
                <a:lnTo>
                  <a:pt x="471807" y="848193"/>
                </a:lnTo>
                <a:lnTo>
                  <a:pt x="0" y="84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93908" y="5117145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09335" y="5075488"/>
            <a:ext cx="5110063" cy="307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LangGraph state machine orchestrates the pipeline</a:t>
            </a:r>
          </a:p>
          <a:p>
            <a:pPr algn="l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spc="-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Intent Classification (7 types)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Country / Year / top-N extraction + ambiguity resolution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Meta &amp; general questions routed to embedded project reference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03545" y="5075488"/>
            <a:ext cx="5188427" cy="276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Cypher Queries + vector similarity search (hybrid retrieval)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GPT-4o drafts cited answer with [C#] / [V#] inline citations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General questions use embedded project reference instead of graph evidence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45839" y="5075488"/>
            <a:ext cx="5110063" cy="276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Rule-based + LLM quality checks on draft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Finalize / rewrite &amp; loop (up to 2x) / ask for clarification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Meta questions skip strict citation requirements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93908" y="6042900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79"/>
                </a:lnTo>
                <a:lnTo>
                  <a:pt x="0" y="215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93908" y="6648904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93908" y="7521723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421308" y="6042900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79"/>
                </a:lnTo>
                <a:lnTo>
                  <a:pt x="0" y="215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421308" y="5143500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21308" y="6982279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377747" y="5143500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377747" y="6042900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79"/>
                </a:lnTo>
                <a:lnTo>
                  <a:pt x="0" y="215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377747" y="6944179"/>
            <a:ext cx="172842" cy="215480"/>
          </a:xfrm>
          <a:custGeom>
            <a:avLst/>
            <a:gdLst/>
            <a:ahLst/>
            <a:cxnLst/>
            <a:rect r="r" b="b" t="t" l="l"/>
            <a:pathLst>
              <a:path h="215480" w="172842">
                <a:moveTo>
                  <a:pt x="0" y="0"/>
                </a:moveTo>
                <a:lnTo>
                  <a:pt x="172842" y="0"/>
                </a:lnTo>
                <a:lnTo>
                  <a:pt x="172842" y="215480"/>
                </a:lnTo>
                <a:lnTo>
                  <a:pt x="0" y="21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88591" y="3569348"/>
            <a:ext cx="5515374" cy="5468356"/>
            <a:chOff x="0" y="0"/>
            <a:chExt cx="1452609" cy="14402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8591" y="3569348"/>
            <a:ext cx="5515374" cy="1173252"/>
            <a:chOff x="0" y="0"/>
            <a:chExt cx="1452609" cy="309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Query Understanding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38713" y="3569348"/>
            <a:ext cx="5515374" cy="5468356"/>
            <a:chOff x="0" y="0"/>
            <a:chExt cx="1452609" cy="14402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38713" y="3569348"/>
            <a:ext cx="5515374" cy="1173252"/>
            <a:chOff x="0" y="0"/>
            <a:chExt cx="1452609" cy="3090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26518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Answer Reliability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87462" y="3569348"/>
            <a:ext cx="5515374" cy="5468356"/>
            <a:chOff x="0" y="0"/>
            <a:chExt cx="1452609" cy="14402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2609" cy="1440225"/>
            </a:xfrm>
            <a:custGeom>
              <a:avLst/>
              <a:gdLst/>
              <a:ahLst/>
              <a:cxnLst/>
              <a:rect r="r" b="b" t="t" l="l"/>
              <a:pathLst>
                <a:path h="144022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1440225"/>
                  </a:lnTo>
                  <a:lnTo>
                    <a:pt x="0" y="14402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452609" cy="141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87462" y="3569348"/>
            <a:ext cx="5515374" cy="1173252"/>
            <a:chOff x="0" y="0"/>
            <a:chExt cx="1452609" cy="3090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2609" cy="309005"/>
            </a:xfrm>
            <a:custGeom>
              <a:avLst/>
              <a:gdLst/>
              <a:ahLst/>
              <a:cxnLst/>
              <a:rect r="r" b="b" t="t" l="l"/>
              <a:pathLst>
                <a:path h="309005" w="1452609">
                  <a:moveTo>
                    <a:pt x="0" y="0"/>
                  </a:moveTo>
                  <a:lnTo>
                    <a:pt x="1452609" y="0"/>
                  </a:lnTo>
                  <a:lnTo>
                    <a:pt x="1452609" y="309005"/>
                  </a:lnTo>
                  <a:lnTo>
                    <a:pt x="0" y="309005"/>
                  </a:lnTo>
                  <a:close/>
                </a:path>
              </a:pathLst>
            </a:custGeom>
            <a:solidFill>
              <a:srgbClr val="09477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452609" cy="26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0"/>
                </a:lnSpc>
              </a:pPr>
              <a:r>
                <a:rPr lang="en-US" b="true" sz="2900" spc="-5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Retrieval Enhancements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3505" y="5362463"/>
            <a:ext cx="330390" cy="371689"/>
            <a:chOff x="0" y="0"/>
            <a:chExt cx="609600" cy="685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8591" y="1721541"/>
            <a:ext cx="15486871" cy="127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1"/>
              </a:lnSpc>
            </a:pPr>
            <a:r>
              <a:rPr lang="en-US" sz="9591" spc="-19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GraphRAG - Key Improvements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9090" y="5361725"/>
            <a:ext cx="4296441" cy="276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Added detection for highest betweenness queries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</a:t>
            </a: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etter handling of ambiguous or incomplete queries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Added support for cross-year questions (e.g., highest residual across all years</a:t>
            </a:r>
            <a:r>
              <a:rPr lang="en-US" sz="2400" spc="-48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63505" y="6303526"/>
            <a:ext cx="330390" cy="371689"/>
            <a:chOff x="0" y="0"/>
            <a:chExt cx="609600" cy="685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3505" y="7246715"/>
            <a:ext cx="330390" cy="371689"/>
            <a:chOff x="0" y="0"/>
            <a:chExt cx="609600" cy="685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117799" y="5400563"/>
            <a:ext cx="4573813" cy="24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Reduced hallucination by forcing evidence-grounded answers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Improv</a:t>
            </a: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 evaluation stage to catch weak or unsupported answers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Strengthened rules for interpreting shadow hub metrics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625483" y="5362463"/>
            <a:ext cx="330390" cy="371689"/>
            <a:chOff x="0" y="0"/>
            <a:chExt cx="609600" cy="685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25483" y="6303526"/>
            <a:ext cx="330390" cy="371689"/>
            <a:chOff x="0" y="0"/>
            <a:chExt cx="609600" cy="685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25483" y="7294340"/>
            <a:ext cx="330390" cy="371689"/>
            <a:chOff x="0" y="0"/>
            <a:chExt cx="609600" cy="685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968487" y="5552963"/>
            <a:ext cx="4573813" cy="215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Strengthened graph-first retrieval, ensuring exact Neo4j metrics are used before vector-based evidence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spc="-4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Added specialized Cypher queries for network centrality metrics and shadow hub ranking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473187" y="5548308"/>
            <a:ext cx="330390" cy="371689"/>
            <a:chOff x="0" y="0"/>
            <a:chExt cx="609600" cy="685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73187" y="6875026"/>
            <a:ext cx="330390" cy="371689"/>
            <a:chOff x="0" y="0"/>
            <a:chExt cx="609600" cy="68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2" y="0"/>
              <a:ext cx="609436" cy="685800"/>
            </a:xfrm>
            <a:custGeom>
              <a:avLst/>
              <a:gdLst/>
              <a:ahLst/>
              <a:cxnLst/>
              <a:rect r="r" b="b" t="t" l="l"/>
              <a:pathLst>
                <a:path h="685800" w="609436">
                  <a:moveTo>
                    <a:pt x="304718" y="342900"/>
                  </a:moveTo>
                  <a:cubicBezTo>
                    <a:pt x="-217252" y="330200"/>
                    <a:pt x="32938" y="-101600"/>
                    <a:pt x="304718" y="342900"/>
                  </a:cubicBezTo>
                  <a:close/>
                  <a:cubicBezTo>
                    <a:pt x="54528" y="800100"/>
                    <a:pt x="553638" y="800100"/>
                    <a:pt x="304718" y="342900"/>
                  </a:cubicBezTo>
                  <a:close/>
                  <a:cubicBezTo>
                    <a:pt x="-217252" y="355600"/>
                    <a:pt x="32938" y="787400"/>
                    <a:pt x="304718" y="342900"/>
                  </a:cubicBezTo>
                  <a:close/>
                  <a:cubicBezTo>
                    <a:pt x="54528" y="-114300"/>
                    <a:pt x="553638" y="-114300"/>
                    <a:pt x="304718" y="342900"/>
                  </a:cubicBezTo>
                  <a:close/>
                  <a:cubicBezTo>
                    <a:pt x="576498" y="787400"/>
                    <a:pt x="826688" y="355600"/>
                    <a:pt x="304718" y="342900"/>
                  </a:cubicBezTo>
                  <a:close/>
                  <a:cubicBezTo>
                    <a:pt x="576498" y="-101600"/>
                    <a:pt x="826688" y="330200"/>
                    <a:pt x="304718" y="342900"/>
                  </a:cubicBezTo>
                  <a:close/>
                  <a:moveTo>
                    <a:pt x="327578" y="342900"/>
                  </a:moveTo>
                  <a:cubicBezTo>
                    <a:pt x="319958" y="342900"/>
                    <a:pt x="312338" y="342900"/>
                    <a:pt x="304718" y="342900"/>
                  </a:cubicBezTo>
                  <a:cubicBezTo>
                    <a:pt x="308528" y="336550"/>
                    <a:pt x="312338" y="330200"/>
                    <a:pt x="316148" y="322580"/>
                  </a:cubicBezTo>
                  <a:cubicBezTo>
                    <a:pt x="312338" y="328930"/>
                    <a:pt x="308528" y="336550"/>
                    <a:pt x="304718" y="342900"/>
                  </a:cubicBezTo>
                  <a:cubicBezTo>
                    <a:pt x="300908" y="336550"/>
                    <a:pt x="297098" y="328930"/>
                    <a:pt x="293288" y="322580"/>
                  </a:cubicBezTo>
                  <a:cubicBezTo>
                    <a:pt x="297098" y="328930"/>
                    <a:pt x="300908" y="336550"/>
                    <a:pt x="304718" y="342900"/>
                  </a:cubicBezTo>
                  <a:cubicBezTo>
                    <a:pt x="297098" y="342900"/>
                    <a:pt x="289478" y="342900"/>
                    <a:pt x="281858" y="342900"/>
                  </a:cubicBezTo>
                  <a:cubicBezTo>
                    <a:pt x="289478" y="342900"/>
                    <a:pt x="297098" y="342900"/>
                    <a:pt x="304718" y="342900"/>
                  </a:cubicBezTo>
                  <a:cubicBezTo>
                    <a:pt x="300908" y="349250"/>
                    <a:pt x="297098" y="355600"/>
                    <a:pt x="293288" y="363220"/>
                  </a:cubicBezTo>
                  <a:cubicBezTo>
                    <a:pt x="297098" y="356870"/>
                    <a:pt x="300908" y="349250"/>
                    <a:pt x="304718" y="342900"/>
                  </a:cubicBezTo>
                  <a:cubicBezTo>
                    <a:pt x="308528" y="349250"/>
                    <a:pt x="312338" y="356870"/>
                    <a:pt x="316148" y="363220"/>
                  </a:cubicBezTo>
                  <a:cubicBezTo>
                    <a:pt x="312338" y="356870"/>
                    <a:pt x="308528" y="349250"/>
                    <a:pt x="304718" y="342900"/>
                  </a:cubicBezTo>
                  <a:cubicBezTo>
                    <a:pt x="312338" y="342900"/>
                    <a:pt x="319958" y="342900"/>
                    <a:pt x="327578" y="342900"/>
                  </a:cubicBezTo>
                  <a:close/>
                </a:path>
              </a:pathLst>
            </a:custGeom>
            <a:solidFill>
              <a:srgbClr val="082B5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27000" y="193675"/>
              <a:ext cx="355600" cy="32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>
            <a:off x="0" y="9788738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725428"/>
            <a:ext cx="6295973" cy="3809063"/>
          </a:xfrm>
          <a:custGeom>
            <a:avLst/>
            <a:gdLst/>
            <a:ahLst/>
            <a:cxnLst/>
            <a:rect r="r" b="b" t="t" l="l"/>
            <a:pathLst>
              <a:path h="3809063" w="6295973">
                <a:moveTo>
                  <a:pt x="0" y="0"/>
                </a:moveTo>
                <a:lnTo>
                  <a:pt x="6295973" y="0"/>
                </a:lnTo>
                <a:lnTo>
                  <a:pt x="6295973" y="3809063"/>
                </a:lnTo>
                <a:lnTo>
                  <a:pt x="0" y="3809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10295" y="4115739"/>
            <a:ext cx="0" cy="3461632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" id="4"/>
          <p:cNvGrpSpPr/>
          <p:nvPr/>
        </p:nvGrpSpPr>
        <p:grpSpPr>
          <a:xfrm rot="0">
            <a:off x="780079" y="3969270"/>
            <a:ext cx="7862721" cy="859726"/>
            <a:chOff x="0" y="0"/>
            <a:chExt cx="654944" cy="71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4944" cy="71613"/>
            </a:xfrm>
            <a:custGeom>
              <a:avLst/>
              <a:gdLst/>
              <a:ahLst/>
              <a:cxnLst/>
              <a:rect r="r" b="b" t="t" l="l"/>
              <a:pathLst>
                <a:path h="71613" w="654944">
                  <a:moveTo>
                    <a:pt x="19231" y="0"/>
                  </a:moveTo>
                  <a:lnTo>
                    <a:pt x="635713" y="0"/>
                  </a:lnTo>
                  <a:cubicBezTo>
                    <a:pt x="640813" y="0"/>
                    <a:pt x="645705" y="2026"/>
                    <a:pt x="649311" y="5633"/>
                  </a:cubicBezTo>
                  <a:cubicBezTo>
                    <a:pt x="652918" y="9239"/>
                    <a:pt x="654944" y="14131"/>
                    <a:pt x="654944" y="19231"/>
                  </a:cubicBezTo>
                  <a:lnTo>
                    <a:pt x="654944" y="52382"/>
                  </a:lnTo>
                  <a:cubicBezTo>
                    <a:pt x="654944" y="57482"/>
                    <a:pt x="652918" y="62374"/>
                    <a:pt x="649311" y="65980"/>
                  </a:cubicBezTo>
                  <a:cubicBezTo>
                    <a:pt x="645705" y="69587"/>
                    <a:pt x="640813" y="71613"/>
                    <a:pt x="635713" y="71613"/>
                  </a:cubicBezTo>
                  <a:lnTo>
                    <a:pt x="19231" y="71613"/>
                  </a:lnTo>
                  <a:cubicBezTo>
                    <a:pt x="14131" y="71613"/>
                    <a:pt x="9239" y="69587"/>
                    <a:pt x="5633" y="65980"/>
                  </a:cubicBezTo>
                  <a:cubicBezTo>
                    <a:pt x="2026" y="62374"/>
                    <a:pt x="0" y="57482"/>
                    <a:pt x="0" y="52382"/>
                  </a:cubicBezTo>
                  <a:lnTo>
                    <a:pt x="0" y="19231"/>
                  </a:lnTo>
                  <a:cubicBezTo>
                    <a:pt x="0" y="14131"/>
                    <a:pt x="2026" y="9239"/>
                    <a:pt x="5633" y="5633"/>
                  </a:cubicBezTo>
                  <a:cubicBezTo>
                    <a:pt x="9239" y="2026"/>
                    <a:pt x="14131" y="0"/>
                    <a:pt x="19231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54944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Globe.gl + WebGL 3D globe where every country is a clickable point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0079" y="5266553"/>
            <a:ext cx="7862721" cy="535876"/>
            <a:chOff x="0" y="0"/>
            <a:chExt cx="654944" cy="446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4944" cy="44637"/>
            </a:xfrm>
            <a:custGeom>
              <a:avLst/>
              <a:gdLst/>
              <a:ahLst/>
              <a:cxnLst/>
              <a:rect r="r" b="b" t="t" l="l"/>
              <a:pathLst>
                <a:path h="44637" w="654944">
                  <a:moveTo>
                    <a:pt x="19231" y="0"/>
                  </a:moveTo>
                  <a:lnTo>
                    <a:pt x="635713" y="0"/>
                  </a:lnTo>
                  <a:cubicBezTo>
                    <a:pt x="640813" y="0"/>
                    <a:pt x="645705" y="2026"/>
                    <a:pt x="649311" y="5633"/>
                  </a:cubicBezTo>
                  <a:cubicBezTo>
                    <a:pt x="652918" y="9239"/>
                    <a:pt x="654944" y="14131"/>
                    <a:pt x="654944" y="19231"/>
                  </a:cubicBezTo>
                  <a:lnTo>
                    <a:pt x="654944" y="25406"/>
                  </a:lnTo>
                  <a:cubicBezTo>
                    <a:pt x="654944" y="30506"/>
                    <a:pt x="652918" y="35398"/>
                    <a:pt x="649311" y="39004"/>
                  </a:cubicBezTo>
                  <a:cubicBezTo>
                    <a:pt x="645705" y="42611"/>
                    <a:pt x="640813" y="44637"/>
                    <a:pt x="635713" y="44637"/>
                  </a:cubicBezTo>
                  <a:lnTo>
                    <a:pt x="19231" y="44637"/>
                  </a:lnTo>
                  <a:cubicBezTo>
                    <a:pt x="14131" y="44637"/>
                    <a:pt x="9239" y="42611"/>
                    <a:pt x="5633" y="39004"/>
                  </a:cubicBezTo>
                  <a:cubicBezTo>
                    <a:pt x="2026" y="35398"/>
                    <a:pt x="0" y="30506"/>
                    <a:pt x="0" y="25406"/>
                  </a:cubicBezTo>
                  <a:lnTo>
                    <a:pt x="0" y="19231"/>
                  </a:lnTo>
                  <a:cubicBezTo>
                    <a:pt x="0" y="14131"/>
                    <a:pt x="2026" y="9239"/>
                    <a:pt x="5633" y="5633"/>
                  </a:cubicBezTo>
                  <a:cubicBezTo>
                    <a:pt x="9239" y="2026"/>
                    <a:pt x="14131" y="0"/>
                    <a:pt x="19231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54944" cy="44637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Detailed annual clustering visualizations on alternate 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0079" y="6186716"/>
            <a:ext cx="7862721" cy="859726"/>
            <a:chOff x="0" y="0"/>
            <a:chExt cx="654944" cy="716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4944" cy="71613"/>
            </a:xfrm>
            <a:custGeom>
              <a:avLst/>
              <a:gdLst/>
              <a:ahLst/>
              <a:cxnLst/>
              <a:rect r="r" b="b" t="t" l="l"/>
              <a:pathLst>
                <a:path h="71613" w="654944">
                  <a:moveTo>
                    <a:pt x="19231" y="0"/>
                  </a:moveTo>
                  <a:lnTo>
                    <a:pt x="635713" y="0"/>
                  </a:lnTo>
                  <a:cubicBezTo>
                    <a:pt x="640813" y="0"/>
                    <a:pt x="645705" y="2026"/>
                    <a:pt x="649311" y="5633"/>
                  </a:cubicBezTo>
                  <a:cubicBezTo>
                    <a:pt x="652918" y="9239"/>
                    <a:pt x="654944" y="14131"/>
                    <a:pt x="654944" y="19231"/>
                  </a:cubicBezTo>
                  <a:lnTo>
                    <a:pt x="654944" y="52382"/>
                  </a:lnTo>
                  <a:cubicBezTo>
                    <a:pt x="654944" y="57482"/>
                    <a:pt x="652918" y="62374"/>
                    <a:pt x="649311" y="65980"/>
                  </a:cubicBezTo>
                  <a:cubicBezTo>
                    <a:pt x="645705" y="69587"/>
                    <a:pt x="640813" y="71613"/>
                    <a:pt x="635713" y="71613"/>
                  </a:cubicBezTo>
                  <a:lnTo>
                    <a:pt x="19231" y="71613"/>
                  </a:lnTo>
                  <a:cubicBezTo>
                    <a:pt x="14131" y="71613"/>
                    <a:pt x="9239" y="69587"/>
                    <a:pt x="5633" y="65980"/>
                  </a:cubicBezTo>
                  <a:cubicBezTo>
                    <a:pt x="2026" y="62374"/>
                    <a:pt x="0" y="57482"/>
                    <a:pt x="0" y="52382"/>
                  </a:cubicBezTo>
                  <a:lnTo>
                    <a:pt x="0" y="19231"/>
                  </a:lnTo>
                  <a:cubicBezTo>
                    <a:pt x="0" y="14131"/>
                    <a:pt x="2026" y="9239"/>
                    <a:pt x="5633" y="5633"/>
                  </a:cubicBezTo>
                  <a:cubicBezTo>
                    <a:pt x="9239" y="2026"/>
                    <a:pt x="14131" y="0"/>
                    <a:pt x="19231" y="0"/>
                  </a:cubicBezTo>
                  <a:close/>
                </a:path>
              </a:pathLst>
            </a:custGeom>
            <a:solidFill>
              <a:srgbClr val="005F8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54944" cy="71613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just" marL="474984" indent="-237492" lvl="1">
                <a:lnSpc>
                  <a:spcPts val="2596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GraphRAG “Ask AI” built in: Python API backend connects the globe to the LangGraph Pipeline and Neo4j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4074639"/>
            <a:ext cx="648990" cy="64899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5209997"/>
            <a:ext cx="648990" cy="64899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6750" y="6292084"/>
            <a:ext cx="648990" cy="64899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2200" spc="-44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614533" y="5684644"/>
            <a:ext cx="6295973" cy="3785454"/>
          </a:xfrm>
          <a:custGeom>
            <a:avLst/>
            <a:gdLst/>
            <a:ahLst/>
            <a:cxnLst/>
            <a:rect r="r" b="b" t="t" l="l"/>
            <a:pathLst>
              <a:path h="3785454" w="6295973">
                <a:moveTo>
                  <a:pt x="0" y="0"/>
                </a:moveTo>
                <a:lnTo>
                  <a:pt x="6295972" y="0"/>
                </a:lnTo>
                <a:lnTo>
                  <a:pt x="6295972" y="3785453"/>
                </a:lnTo>
                <a:lnTo>
                  <a:pt x="0" y="378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66750" y="1743920"/>
            <a:ext cx="747641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Interactive Globe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1245" y="7958371"/>
            <a:ext cx="9236371" cy="563256"/>
            <a:chOff x="0" y="0"/>
            <a:chExt cx="2432624" cy="1483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2625" cy="148347"/>
            </a:xfrm>
            <a:custGeom>
              <a:avLst/>
              <a:gdLst/>
              <a:ahLst/>
              <a:cxnLst/>
              <a:rect r="r" b="b" t="t" l="l"/>
              <a:pathLst>
                <a:path h="148347" w="2432625">
                  <a:moveTo>
                    <a:pt x="16764" y="0"/>
                  </a:moveTo>
                  <a:lnTo>
                    <a:pt x="2415861" y="0"/>
                  </a:lnTo>
                  <a:cubicBezTo>
                    <a:pt x="2420307" y="0"/>
                    <a:pt x="2424571" y="1766"/>
                    <a:pt x="2427715" y="4910"/>
                  </a:cubicBezTo>
                  <a:cubicBezTo>
                    <a:pt x="2430858" y="8054"/>
                    <a:pt x="2432625" y="12318"/>
                    <a:pt x="2432625" y="16764"/>
                  </a:cubicBezTo>
                  <a:lnTo>
                    <a:pt x="2432625" y="131583"/>
                  </a:lnTo>
                  <a:cubicBezTo>
                    <a:pt x="2432625" y="136029"/>
                    <a:pt x="2430858" y="140293"/>
                    <a:pt x="2427715" y="143437"/>
                  </a:cubicBezTo>
                  <a:cubicBezTo>
                    <a:pt x="2424571" y="146581"/>
                    <a:pt x="2420307" y="148347"/>
                    <a:pt x="2415861" y="148347"/>
                  </a:cubicBezTo>
                  <a:lnTo>
                    <a:pt x="16764" y="148347"/>
                  </a:lnTo>
                  <a:cubicBezTo>
                    <a:pt x="12318" y="148347"/>
                    <a:pt x="8054" y="146581"/>
                    <a:pt x="4910" y="143437"/>
                  </a:cubicBezTo>
                  <a:cubicBezTo>
                    <a:pt x="1766" y="140293"/>
                    <a:pt x="0" y="136029"/>
                    <a:pt x="0" y="131583"/>
                  </a:cubicBezTo>
                  <a:lnTo>
                    <a:pt x="0" y="16764"/>
                  </a:lnTo>
                  <a:cubicBezTo>
                    <a:pt x="0" y="12318"/>
                    <a:pt x="1766" y="8054"/>
                    <a:pt x="4910" y="4910"/>
                  </a:cubicBezTo>
                  <a:cubicBezTo>
                    <a:pt x="8054" y="1766"/>
                    <a:pt x="12318" y="0"/>
                    <a:pt x="167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2432624" cy="1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400" spc="-48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One-Stop Insights Resource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1743920"/>
            <a:ext cx="10138552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Caveats and Next Steps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1746" y="3479130"/>
            <a:ext cx="8468825" cy="5549281"/>
            <a:chOff x="0" y="0"/>
            <a:chExt cx="2230473" cy="14615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0473" cy="1461539"/>
            </a:xfrm>
            <a:custGeom>
              <a:avLst/>
              <a:gdLst/>
              <a:ahLst/>
              <a:cxnLst/>
              <a:rect r="r" b="b" t="t" l="l"/>
              <a:pathLst>
                <a:path h="1461539" w="2230473">
                  <a:moveTo>
                    <a:pt x="46623" y="0"/>
                  </a:moveTo>
                  <a:lnTo>
                    <a:pt x="2183850" y="0"/>
                  </a:lnTo>
                  <a:cubicBezTo>
                    <a:pt x="2209599" y="0"/>
                    <a:pt x="2230473" y="20874"/>
                    <a:pt x="2230473" y="46623"/>
                  </a:cubicBezTo>
                  <a:lnTo>
                    <a:pt x="2230473" y="1414917"/>
                  </a:lnTo>
                  <a:cubicBezTo>
                    <a:pt x="2230473" y="1427282"/>
                    <a:pt x="2225561" y="1439140"/>
                    <a:pt x="2216817" y="1447884"/>
                  </a:cubicBezTo>
                  <a:cubicBezTo>
                    <a:pt x="2208074" y="1456627"/>
                    <a:pt x="2196215" y="1461539"/>
                    <a:pt x="2183850" y="1461539"/>
                  </a:cubicBezTo>
                  <a:lnTo>
                    <a:pt x="46623" y="1461539"/>
                  </a:lnTo>
                  <a:cubicBezTo>
                    <a:pt x="20874" y="1461539"/>
                    <a:pt x="0" y="1440665"/>
                    <a:pt x="0" y="1414917"/>
                  </a:cubicBezTo>
                  <a:lnTo>
                    <a:pt x="0" y="46623"/>
                  </a:lnTo>
                  <a:cubicBezTo>
                    <a:pt x="0" y="34257"/>
                    <a:pt x="4912" y="22399"/>
                    <a:pt x="13655" y="13655"/>
                  </a:cubicBezTo>
                  <a:cubicBezTo>
                    <a:pt x="22399" y="4912"/>
                    <a:pt x="34257" y="0"/>
                    <a:pt x="46623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230473" cy="1432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91" y="3609975"/>
            <a:ext cx="8333180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u="sng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Limitations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Shadow hubs flag structural anomalies, not definitive sanctions evasion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igh residual = more central than trade volume predicts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lustering adds a second lens: "Brokers" b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ridg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disconnected groups, "Syndicates" operate in tight trading blocs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egitimate explanations e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x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t: geography, refining capacity, trade agreements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This is a</a:t>
            </a:r>
            <a:r>
              <a:rPr lang="en-US" sz="2200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screening tool: where to look, not what you'll find</a:t>
            </a:r>
          </a:p>
          <a:p>
            <a:pPr algn="l">
              <a:lnSpc>
                <a:spcPts val="2640"/>
              </a:lnSpc>
            </a:pPr>
          </a:p>
          <a:p>
            <a:pPr algn="l" marL="0" indent="0" lvl="0">
              <a:lnSpc>
                <a:spcPts val="264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567429" y="3479130"/>
            <a:ext cx="8468825" cy="5549281"/>
            <a:chOff x="0" y="0"/>
            <a:chExt cx="2230473" cy="14615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0473" cy="1461539"/>
            </a:xfrm>
            <a:custGeom>
              <a:avLst/>
              <a:gdLst/>
              <a:ahLst/>
              <a:cxnLst/>
              <a:rect r="r" b="b" t="t" l="l"/>
              <a:pathLst>
                <a:path h="1461539" w="2230473">
                  <a:moveTo>
                    <a:pt x="46623" y="0"/>
                  </a:moveTo>
                  <a:lnTo>
                    <a:pt x="2183850" y="0"/>
                  </a:lnTo>
                  <a:cubicBezTo>
                    <a:pt x="2209599" y="0"/>
                    <a:pt x="2230473" y="20874"/>
                    <a:pt x="2230473" y="46623"/>
                  </a:cubicBezTo>
                  <a:lnTo>
                    <a:pt x="2230473" y="1414917"/>
                  </a:lnTo>
                  <a:cubicBezTo>
                    <a:pt x="2230473" y="1427282"/>
                    <a:pt x="2225561" y="1439140"/>
                    <a:pt x="2216817" y="1447884"/>
                  </a:cubicBezTo>
                  <a:cubicBezTo>
                    <a:pt x="2208074" y="1456627"/>
                    <a:pt x="2196215" y="1461539"/>
                    <a:pt x="2183850" y="1461539"/>
                  </a:cubicBezTo>
                  <a:lnTo>
                    <a:pt x="46623" y="1461539"/>
                  </a:lnTo>
                  <a:cubicBezTo>
                    <a:pt x="20874" y="1461539"/>
                    <a:pt x="0" y="1440665"/>
                    <a:pt x="0" y="1414917"/>
                  </a:cubicBezTo>
                  <a:lnTo>
                    <a:pt x="0" y="46623"/>
                  </a:lnTo>
                  <a:cubicBezTo>
                    <a:pt x="0" y="34257"/>
                    <a:pt x="4912" y="22399"/>
                    <a:pt x="13655" y="13655"/>
                  </a:cubicBezTo>
                  <a:cubicBezTo>
                    <a:pt x="22399" y="4912"/>
                    <a:pt x="34257" y="0"/>
                    <a:pt x="46623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230473" cy="1432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703074" y="3609975"/>
            <a:ext cx="8333180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u="sng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 Data Layers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The current model shows where to look. Adding ground-truth data would show who is actually doing it: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Beneficial ownership data to trace who controls entities behind anomalous flows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Vessel tracking (AIS) to flag dark voyages and ship-to-ship transfers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Entity-level sanctions matching against SDN, EU, and UN lists</a:t>
            </a:r>
          </a:p>
          <a:p>
            <a:pPr algn="l">
              <a:lnSpc>
                <a:spcPts val="2640"/>
              </a:lnSpc>
            </a:pPr>
          </a:p>
          <a:p>
            <a:pPr algn="l" marL="949962" indent="-316654" lvl="2">
              <a:lnSpc>
                <a:spcPts val="2640"/>
              </a:lnSpc>
              <a:buFont typeface="Arial"/>
              <a:buChar char="⚬"/>
            </a:pPr>
            <a:r>
              <a:rPr lang="en-US" sz="2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Financial flow data (SWIFT) to verify money flows match physical trade</a:t>
            </a:r>
          </a:p>
          <a:p>
            <a:pPr algn="l">
              <a:lnSpc>
                <a:spcPts val="2640"/>
              </a:lnSpc>
            </a:pPr>
          </a:p>
          <a:p>
            <a:pPr algn="l" marL="0" indent="0" lvl="0">
              <a:lnSpc>
                <a:spcPts val="264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945"/>
            <a:ext cx="7445071" cy="2151805"/>
            <a:chOff x="0" y="0"/>
            <a:chExt cx="9926762" cy="28690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6474"/>
              <a:ext cx="992676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Explore the project and try it yourself at the links below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206473"/>
            <a:ext cx="6828268" cy="1518427"/>
            <a:chOff x="0" y="0"/>
            <a:chExt cx="9104357" cy="202456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76769"/>
              <a:ext cx="9104357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sng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  <a:hlinkClick r:id="rId2" tooltip="http://github.com/AHMerrill/shadow-hubs"/>
                </a:rPr>
                <a:t>GitHub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u="sng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  <a:hlinkClick r:id="rId3" tooltip="https://shadow-hubs.onrender.com"/>
                </a:rPr>
                <a:t>Shadow Hubs Globe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41969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Shadow Hubs</dc:description>
  <dc:identifier>DAHCvkwuovc</dc:identifier>
  <dcterms:modified xsi:type="dcterms:W3CDTF">2011-08-01T06:04:30Z</dcterms:modified>
  <cp:revision>1</cp:revision>
  <dc:title>Final Presentation - Shadow Hubs</dc:title>
</cp:coreProperties>
</file>